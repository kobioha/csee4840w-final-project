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5753100" cy="3238500"/>
  <p:notesSz cx="5753100" cy="3238500"/>
  <p:embeddedFontLst>
    <p:embeddedFont>
      <p:font typeface="BCMESO+LMSans12-Regular"/>
      <p:regular r:id="rId43"/>
    </p:embeddedFont>
    <p:embeddedFont>
      <p:font typeface="MRDOQG+LMSans10-Regular"/>
      <p:regular r:id="rId44"/>
    </p:embeddedFont>
    <p:embeddedFont>
      <p:font typeface="OWJTJR+LMSans8-Regular"/>
      <p:regular r:id="rId45"/>
    </p:embeddedFont>
    <p:embeddedFont>
      <p:font typeface="PBIMLA+LMSans10-Bold"/>
      <p:regular r:id="rId46"/>
    </p:embeddedFont>
    <p:embeddedFont>
      <p:font typeface="KMBAWC+LMMono10-Regular"/>
      <p:regular r:id="rId47"/>
    </p:embeddedFont>
    <p:embeddedFont>
      <p:font typeface="RJHAVG+LMMonoLt10-Bold"/>
      <p:regular r:id="rId48"/>
    </p:embeddedFont>
    <p:embeddedFont>
      <p:font typeface="UCHHUL+LMSans10-Regular"/>
      <p:regular r:id="rId49"/>
    </p:embeddedFont>
    <p:embeddedFont>
      <p:font typeface="OVPJTT+LMSans10-Bold"/>
      <p:regular r:id="rId50"/>
    </p:embeddedFont>
    <p:embeddedFont>
      <p:font typeface="HUOLOP+LMMathSymbols10-Regular"/>
      <p:regular r:id="rId51"/>
    </p:embeddedFont>
    <p:embeddedFont>
      <p:font typeface="NSBDJE+LMRomanCaps10-Regular"/>
      <p:regular r:id="rId52"/>
    </p:embeddedFont>
    <p:embeddedFont>
      <p:font typeface="HKTLMB+LMMathSymbols8-Regular"/>
      <p:regular r:id="rId53"/>
    </p:embeddedFont>
    <p:embeddedFont>
      <p:font typeface="LNDUAE+LMMathItalic8-Regular"/>
      <p:regular r:id="rId54"/>
    </p:embeddedFont>
    <p:embeddedFont>
      <p:font typeface="AFNHJA+LMMathItalic10-Regular"/>
      <p:regular r:id="rId55"/>
    </p:embeddedFont>
    <p:embeddedFont>
      <p:font typeface="SMDPJG+LMSans9-Regular"/>
      <p:regular r:id="rId56"/>
    </p:embeddedFont>
    <p:embeddedFont>
      <p:font typeface="MEQAWH+LMMathSymbols9-Regular"/>
      <p:regular r:id="rId57"/>
    </p:embeddedFont>
    <p:embeddedFont>
      <p:font typeface="OGQHSE+LMSans9-Regular"/>
      <p:regular r:id="rId58"/>
    </p:embeddedFont>
    <p:embeddedFont>
      <p:font typeface="DAEJWH+LMSans9-Regular"/>
      <p:regular r:id="rId59"/>
    </p:embeddedFont>
    <p:embeddedFont>
      <p:font typeface="NOVGAF+LMSans8-Oblique"/>
      <p:regular r:id="rId60"/>
    </p:embeddedFont>
    <p:embeddedFont>
      <p:font typeface="WBBGPW+LMMathSymbols10-Regular"/>
      <p:regular r:id="rId61"/>
    </p:embeddedFont>
    <p:embeddedFont>
      <p:font typeface="TDTWON+NotoSans-Bold"/>
      <p:regular r:id="rId62"/>
    </p:embeddedFont>
    <p:embeddedFont>
      <p:font typeface="LGRJER+NotoSans-Regular"/>
      <p:regular r:id="rId63"/>
    </p:embeddedFont>
    <p:embeddedFont>
      <p:font typeface="DITGIQ+DejaVuSans"/>
      <p:regular r:id="rId64"/>
    </p:embeddedFont>
    <p:embeddedFont>
      <p:font typeface="LOKCCI+DejaVuSansMono"/>
      <p:regular r:id="rId65"/>
    </p:embeddedFont>
    <p:embeddedFont>
      <p:font typeface="LAVVDN+NotoSans-Regular"/>
      <p:regular r:id="rId66"/>
    </p:embeddedFont>
    <p:embeddedFont>
      <p:font typeface="UAGHMQ+NotoSans-Bold"/>
      <p:regular r:id="rId67"/>
    </p:embeddedFont>
    <p:embeddedFont>
      <p:font typeface="KVKICI+DejaVuSans-Bold"/>
      <p:regular r:id="rId6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31" Type="http://schemas.openxmlformats.org/officeDocument/2006/relationships/slide" Target="slides/slide26.xml" /><Relationship Id="rId32" Type="http://schemas.openxmlformats.org/officeDocument/2006/relationships/slide" Target="slides/slide27.xml" /><Relationship Id="rId33" Type="http://schemas.openxmlformats.org/officeDocument/2006/relationships/slide" Target="slides/slide28.xml" /><Relationship Id="rId34" Type="http://schemas.openxmlformats.org/officeDocument/2006/relationships/slide" Target="slides/slide29.xml" /><Relationship Id="rId35" Type="http://schemas.openxmlformats.org/officeDocument/2006/relationships/slide" Target="slides/slide30.xml" /><Relationship Id="rId36" Type="http://schemas.openxmlformats.org/officeDocument/2006/relationships/slide" Target="slides/slide31.xml" /><Relationship Id="rId37" Type="http://schemas.openxmlformats.org/officeDocument/2006/relationships/slide" Target="slides/slide32.xml" /><Relationship Id="rId38" Type="http://schemas.openxmlformats.org/officeDocument/2006/relationships/slide" Target="slides/slide33.xml" /><Relationship Id="rId39" Type="http://schemas.openxmlformats.org/officeDocument/2006/relationships/slide" Target="slides/slide34.xml" /><Relationship Id="rId4" Type="http://schemas.openxmlformats.org/officeDocument/2006/relationships/theme" Target="theme/theme1.xml" /><Relationship Id="rId40" Type="http://schemas.openxmlformats.org/officeDocument/2006/relationships/slide" Target="slides/slide35.xml" /><Relationship Id="rId41" Type="http://schemas.openxmlformats.org/officeDocument/2006/relationships/slide" Target="slides/slide36.xml" /><Relationship Id="rId42" Type="http://schemas.openxmlformats.org/officeDocument/2006/relationships/slide" Target="slides/slide37.xml" /><Relationship Id="rId43" Type="http://schemas.openxmlformats.org/officeDocument/2006/relationships/font" Target="fonts/font1.fntdata" /><Relationship Id="rId44" Type="http://schemas.openxmlformats.org/officeDocument/2006/relationships/font" Target="fonts/font2.fntdata" /><Relationship Id="rId45" Type="http://schemas.openxmlformats.org/officeDocument/2006/relationships/font" Target="fonts/font3.fntdata" /><Relationship Id="rId46" Type="http://schemas.openxmlformats.org/officeDocument/2006/relationships/font" Target="fonts/font4.fntdata" /><Relationship Id="rId47" Type="http://schemas.openxmlformats.org/officeDocument/2006/relationships/font" Target="fonts/font5.fntdata" /><Relationship Id="rId48" Type="http://schemas.openxmlformats.org/officeDocument/2006/relationships/font" Target="fonts/font6.fntdata" /><Relationship Id="rId49" Type="http://schemas.openxmlformats.org/officeDocument/2006/relationships/font" Target="fonts/font7.fntdata" /><Relationship Id="rId5" Type="http://schemas.openxmlformats.org/officeDocument/2006/relationships/slideMaster" Target="slideMasters/slideMaster1.xml" /><Relationship Id="rId50" Type="http://schemas.openxmlformats.org/officeDocument/2006/relationships/font" Target="fonts/font8.fntdata" /><Relationship Id="rId51" Type="http://schemas.openxmlformats.org/officeDocument/2006/relationships/font" Target="fonts/font9.fntdata" /><Relationship Id="rId52" Type="http://schemas.openxmlformats.org/officeDocument/2006/relationships/font" Target="fonts/font10.fntdata" /><Relationship Id="rId53" Type="http://schemas.openxmlformats.org/officeDocument/2006/relationships/font" Target="fonts/font11.fntdata" /><Relationship Id="rId54" Type="http://schemas.openxmlformats.org/officeDocument/2006/relationships/font" Target="fonts/font12.fntdata" /><Relationship Id="rId55" Type="http://schemas.openxmlformats.org/officeDocument/2006/relationships/font" Target="fonts/font13.fntdata" /><Relationship Id="rId56" Type="http://schemas.openxmlformats.org/officeDocument/2006/relationships/font" Target="fonts/font14.fntdata" /><Relationship Id="rId57" Type="http://schemas.openxmlformats.org/officeDocument/2006/relationships/font" Target="fonts/font15.fntdata" /><Relationship Id="rId58" Type="http://schemas.openxmlformats.org/officeDocument/2006/relationships/font" Target="fonts/font16.fntdata" /><Relationship Id="rId59" Type="http://schemas.openxmlformats.org/officeDocument/2006/relationships/font" Target="fonts/font17.fntdata" /><Relationship Id="rId6" Type="http://schemas.openxmlformats.org/officeDocument/2006/relationships/slide" Target="slides/slide1.xml" /><Relationship Id="rId60" Type="http://schemas.openxmlformats.org/officeDocument/2006/relationships/font" Target="fonts/font18.fntdata" /><Relationship Id="rId61" Type="http://schemas.openxmlformats.org/officeDocument/2006/relationships/font" Target="fonts/font19.fntdata" /><Relationship Id="rId62" Type="http://schemas.openxmlformats.org/officeDocument/2006/relationships/font" Target="fonts/font20.fntdata" /><Relationship Id="rId63" Type="http://schemas.openxmlformats.org/officeDocument/2006/relationships/font" Target="fonts/font21.fntdata" /><Relationship Id="rId64" Type="http://schemas.openxmlformats.org/officeDocument/2006/relationships/font" Target="fonts/font22.fntdata" /><Relationship Id="rId65" Type="http://schemas.openxmlformats.org/officeDocument/2006/relationships/font" Target="fonts/font23.fntdata" /><Relationship Id="rId66" Type="http://schemas.openxmlformats.org/officeDocument/2006/relationships/font" Target="fonts/font24.fntdata" /><Relationship Id="rId67" Type="http://schemas.openxmlformats.org/officeDocument/2006/relationships/font" Target="fonts/font25.fntdata" /><Relationship Id="rId68" Type="http://schemas.openxmlformats.org/officeDocument/2006/relationships/font" Target="fonts/font26.fntdata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Relationship Id="rId3" Type="http://schemas.openxmlformats.org/officeDocument/2006/relationships/image" Target="../media/image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Relationship Id="rId3" Type="http://schemas.openxmlformats.org/officeDocument/2006/relationships/image" Target="../media/image17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Relationship Id="rId3" Type="http://schemas.openxmlformats.org/officeDocument/2006/relationships/image" Target="../media/image22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Relationship Id="rId3" Type="http://schemas.openxmlformats.org/officeDocument/2006/relationships/image" Target="../media/image24.png" /><Relationship Id="rId4" Type="http://schemas.openxmlformats.org/officeDocument/2006/relationships/image" Target="../media/image25.png" /><Relationship Id="rId5" Type="http://schemas.openxmlformats.org/officeDocument/2006/relationships/image" Target="../media/image26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35.png" /><Relationship Id="rId11" Type="http://schemas.openxmlformats.org/officeDocument/2006/relationships/image" Target="../media/image36.png" /><Relationship Id="rId12" Type="http://schemas.openxmlformats.org/officeDocument/2006/relationships/image" Target="../media/image37.png" /><Relationship Id="rId13" Type="http://schemas.openxmlformats.org/officeDocument/2006/relationships/image" Target="../media/image38.png" /><Relationship Id="rId14" Type="http://schemas.openxmlformats.org/officeDocument/2006/relationships/image" Target="../media/image39.png" /><Relationship Id="rId15" Type="http://schemas.openxmlformats.org/officeDocument/2006/relationships/image" Target="../media/image40.png" /><Relationship Id="rId16" Type="http://schemas.openxmlformats.org/officeDocument/2006/relationships/image" Target="../media/image41.png" /><Relationship Id="rId17" Type="http://schemas.openxmlformats.org/officeDocument/2006/relationships/image" Target="../media/image42.png" /><Relationship Id="rId18" Type="http://schemas.openxmlformats.org/officeDocument/2006/relationships/image" Target="../media/image43.png" /><Relationship Id="rId19" Type="http://schemas.openxmlformats.org/officeDocument/2006/relationships/image" Target="../media/image44.png" /><Relationship Id="rId2" Type="http://schemas.openxmlformats.org/officeDocument/2006/relationships/image" Target="../media/image27.png" /><Relationship Id="rId20" Type="http://schemas.openxmlformats.org/officeDocument/2006/relationships/image" Target="../media/image45.png" /><Relationship Id="rId21" Type="http://schemas.openxmlformats.org/officeDocument/2006/relationships/image" Target="../media/image46.png" /><Relationship Id="rId22" Type="http://schemas.openxmlformats.org/officeDocument/2006/relationships/image" Target="../media/image47.png" /><Relationship Id="rId23" Type="http://schemas.openxmlformats.org/officeDocument/2006/relationships/image" Target="../media/image48.png" /><Relationship Id="rId24" Type="http://schemas.openxmlformats.org/officeDocument/2006/relationships/image" Target="../media/image49.png" /><Relationship Id="rId3" Type="http://schemas.openxmlformats.org/officeDocument/2006/relationships/image" Target="../media/image28.png" /><Relationship Id="rId4" Type="http://schemas.openxmlformats.org/officeDocument/2006/relationships/image" Target="../media/image29.png" /><Relationship Id="rId5" Type="http://schemas.openxmlformats.org/officeDocument/2006/relationships/image" Target="../media/image30.png" /><Relationship Id="rId6" Type="http://schemas.openxmlformats.org/officeDocument/2006/relationships/image" Target="../media/image31.png" /><Relationship Id="rId7" Type="http://schemas.openxmlformats.org/officeDocument/2006/relationships/image" Target="../media/image32.png" /><Relationship Id="rId8" Type="http://schemas.openxmlformats.org/officeDocument/2006/relationships/image" Target="../media/image33.png" /><Relationship Id="rId9" Type="http://schemas.openxmlformats.org/officeDocument/2006/relationships/image" Target="../media/image34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58.png" /><Relationship Id="rId11" Type="http://schemas.openxmlformats.org/officeDocument/2006/relationships/image" Target="../media/image59.png" /><Relationship Id="rId12" Type="http://schemas.openxmlformats.org/officeDocument/2006/relationships/image" Target="../media/image60.png" /><Relationship Id="rId13" Type="http://schemas.openxmlformats.org/officeDocument/2006/relationships/image" Target="../media/image61.png" /><Relationship Id="rId14" Type="http://schemas.openxmlformats.org/officeDocument/2006/relationships/image" Target="../media/image62.png" /><Relationship Id="rId15" Type="http://schemas.openxmlformats.org/officeDocument/2006/relationships/image" Target="../media/image63.png" /><Relationship Id="rId2" Type="http://schemas.openxmlformats.org/officeDocument/2006/relationships/image" Target="../media/image50.png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53.png" /><Relationship Id="rId6" Type="http://schemas.openxmlformats.org/officeDocument/2006/relationships/image" Target="../media/image54.png" /><Relationship Id="rId7" Type="http://schemas.openxmlformats.org/officeDocument/2006/relationships/image" Target="../media/image55.png" /><Relationship Id="rId8" Type="http://schemas.openxmlformats.org/officeDocument/2006/relationships/image" Target="../media/image56.png" /><Relationship Id="rId9" Type="http://schemas.openxmlformats.org/officeDocument/2006/relationships/image" Target="../media/image57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72.png" /><Relationship Id="rId11" Type="http://schemas.openxmlformats.org/officeDocument/2006/relationships/image" Target="../media/image73.png" /><Relationship Id="rId12" Type="http://schemas.openxmlformats.org/officeDocument/2006/relationships/image" Target="../media/image74.png" /><Relationship Id="rId2" Type="http://schemas.openxmlformats.org/officeDocument/2006/relationships/image" Target="../media/image64.png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Relationship Id="rId6" Type="http://schemas.openxmlformats.org/officeDocument/2006/relationships/image" Target="../media/image68.png" /><Relationship Id="rId7" Type="http://schemas.openxmlformats.org/officeDocument/2006/relationships/image" Target="../media/image69.png" /><Relationship Id="rId8" Type="http://schemas.openxmlformats.org/officeDocument/2006/relationships/image" Target="../media/image70.png" /><Relationship Id="rId9" Type="http://schemas.openxmlformats.org/officeDocument/2006/relationships/image" Target="../media/image71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83.png" /><Relationship Id="rId11" Type="http://schemas.openxmlformats.org/officeDocument/2006/relationships/image" Target="../media/image84.png" /><Relationship Id="rId12" Type="http://schemas.openxmlformats.org/officeDocument/2006/relationships/image" Target="../media/image85.png" /><Relationship Id="rId2" Type="http://schemas.openxmlformats.org/officeDocument/2006/relationships/image" Target="../media/image75.png" /><Relationship Id="rId3" Type="http://schemas.openxmlformats.org/officeDocument/2006/relationships/image" Target="../media/image76.png" /><Relationship Id="rId4" Type="http://schemas.openxmlformats.org/officeDocument/2006/relationships/image" Target="../media/image77.png" /><Relationship Id="rId5" Type="http://schemas.openxmlformats.org/officeDocument/2006/relationships/image" Target="../media/image78.png" /><Relationship Id="rId6" Type="http://schemas.openxmlformats.org/officeDocument/2006/relationships/image" Target="../media/image79.png" /><Relationship Id="rId7" Type="http://schemas.openxmlformats.org/officeDocument/2006/relationships/image" Target="../media/image80.png" /><Relationship Id="rId8" Type="http://schemas.openxmlformats.org/officeDocument/2006/relationships/image" Target="../media/image81.png" /><Relationship Id="rId9" Type="http://schemas.openxmlformats.org/officeDocument/2006/relationships/image" Target="../media/image82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94.png" /><Relationship Id="rId11" Type="http://schemas.openxmlformats.org/officeDocument/2006/relationships/image" Target="../media/image95.png" /><Relationship Id="rId12" Type="http://schemas.openxmlformats.org/officeDocument/2006/relationships/image" Target="../media/image96.png" /><Relationship Id="rId13" Type="http://schemas.openxmlformats.org/officeDocument/2006/relationships/image" Target="../media/image97.png" /><Relationship Id="rId14" Type="http://schemas.openxmlformats.org/officeDocument/2006/relationships/image" Target="../media/image98.png" /><Relationship Id="rId15" Type="http://schemas.openxmlformats.org/officeDocument/2006/relationships/image" Target="../media/image99.png" /><Relationship Id="rId16" Type="http://schemas.openxmlformats.org/officeDocument/2006/relationships/image" Target="../media/image100.png" /><Relationship Id="rId2" Type="http://schemas.openxmlformats.org/officeDocument/2006/relationships/image" Target="../media/image86.png" /><Relationship Id="rId3" Type="http://schemas.openxmlformats.org/officeDocument/2006/relationships/image" Target="../media/image87.png" /><Relationship Id="rId4" Type="http://schemas.openxmlformats.org/officeDocument/2006/relationships/image" Target="../media/image88.png" /><Relationship Id="rId5" Type="http://schemas.openxmlformats.org/officeDocument/2006/relationships/image" Target="../media/image89.png" /><Relationship Id="rId6" Type="http://schemas.openxmlformats.org/officeDocument/2006/relationships/image" Target="../media/image90.png" /><Relationship Id="rId7" Type="http://schemas.openxmlformats.org/officeDocument/2006/relationships/image" Target="../media/image91.png" /><Relationship Id="rId8" Type="http://schemas.openxmlformats.org/officeDocument/2006/relationships/image" Target="../media/image92.png" /><Relationship Id="rId9" Type="http://schemas.openxmlformats.org/officeDocument/2006/relationships/image" Target="../media/image9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09.png" /><Relationship Id="rId11" Type="http://schemas.openxmlformats.org/officeDocument/2006/relationships/image" Target="../media/image110.png" /><Relationship Id="rId12" Type="http://schemas.openxmlformats.org/officeDocument/2006/relationships/image" Target="../media/image111.png" /><Relationship Id="rId13" Type="http://schemas.openxmlformats.org/officeDocument/2006/relationships/image" Target="../media/image112.png" /><Relationship Id="rId14" Type="http://schemas.openxmlformats.org/officeDocument/2006/relationships/image" Target="../media/image113.png" /><Relationship Id="rId15" Type="http://schemas.openxmlformats.org/officeDocument/2006/relationships/image" Target="../media/image114.png" /><Relationship Id="rId16" Type="http://schemas.openxmlformats.org/officeDocument/2006/relationships/image" Target="../media/image115.png" /><Relationship Id="rId17" Type="http://schemas.openxmlformats.org/officeDocument/2006/relationships/image" Target="../media/image116.png" /><Relationship Id="rId18" Type="http://schemas.openxmlformats.org/officeDocument/2006/relationships/image" Target="../media/image117.png" /><Relationship Id="rId2" Type="http://schemas.openxmlformats.org/officeDocument/2006/relationships/image" Target="../media/image101.png" /><Relationship Id="rId3" Type="http://schemas.openxmlformats.org/officeDocument/2006/relationships/image" Target="../media/image102.png" /><Relationship Id="rId4" Type="http://schemas.openxmlformats.org/officeDocument/2006/relationships/image" Target="../media/image103.png" /><Relationship Id="rId5" Type="http://schemas.openxmlformats.org/officeDocument/2006/relationships/image" Target="../media/image104.png" /><Relationship Id="rId6" Type="http://schemas.openxmlformats.org/officeDocument/2006/relationships/image" Target="../media/image105.png" /><Relationship Id="rId7" Type="http://schemas.openxmlformats.org/officeDocument/2006/relationships/image" Target="../media/image106.png" /><Relationship Id="rId8" Type="http://schemas.openxmlformats.org/officeDocument/2006/relationships/image" Target="../media/image107.png" /><Relationship Id="rId9" Type="http://schemas.openxmlformats.org/officeDocument/2006/relationships/image" Target="../media/image10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26.png" /><Relationship Id="rId11" Type="http://schemas.openxmlformats.org/officeDocument/2006/relationships/image" Target="../media/image127.png" /><Relationship Id="rId12" Type="http://schemas.openxmlformats.org/officeDocument/2006/relationships/image" Target="../media/image128.png" /><Relationship Id="rId13" Type="http://schemas.openxmlformats.org/officeDocument/2006/relationships/image" Target="../media/image129.png" /><Relationship Id="rId14" Type="http://schemas.openxmlformats.org/officeDocument/2006/relationships/image" Target="../media/image130.png" /><Relationship Id="rId2" Type="http://schemas.openxmlformats.org/officeDocument/2006/relationships/image" Target="../media/image118.png" /><Relationship Id="rId3" Type="http://schemas.openxmlformats.org/officeDocument/2006/relationships/image" Target="../media/image119.png" /><Relationship Id="rId4" Type="http://schemas.openxmlformats.org/officeDocument/2006/relationships/image" Target="../media/image120.png" /><Relationship Id="rId5" Type="http://schemas.openxmlformats.org/officeDocument/2006/relationships/image" Target="../media/image121.png" /><Relationship Id="rId6" Type="http://schemas.openxmlformats.org/officeDocument/2006/relationships/image" Target="../media/image122.png" /><Relationship Id="rId7" Type="http://schemas.openxmlformats.org/officeDocument/2006/relationships/image" Target="../media/image123.png" /><Relationship Id="rId8" Type="http://schemas.openxmlformats.org/officeDocument/2006/relationships/image" Target="../media/image124.png" /><Relationship Id="rId9" Type="http://schemas.openxmlformats.org/officeDocument/2006/relationships/image" Target="../media/image125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39.png" /><Relationship Id="rId11" Type="http://schemas.openxmlformats.org/officeDocument/2006/relationships/image" Target="../media/image140.png" /><Relationship Id="rId12" Type="http://schemas.openxmlformats.org/officeDocument/2006/relationships/image" Target="../media/image141.png" /><Relationship Id="rId13" Type="http://schemas.openxmlformats.org/officeDocument/2006/relationships/image" Target="../media/image142.png" /><Relationship Id="rId14" Type="http://schemas.openxmlformats.org/officeDocument/2006/relationships/image" Target="../media/image143.png" /><Relationship Id="rId2" Type="http://schemas.openxmlformats.org/officeDocument/2006/relationships/image" Target="../media/image131.png" /><Relationship Id="rId3" Type="http://schemas.openxmlformats.org/officeDocument/2006/relationships/image" Target="../media/image132.png" /><Relationship Id="rId4" Type="http://schemas.openxmlformats.org/officeDocument/2006/relationships/image" Target="../media/image133.png" /><Relationship Id="rId5" Type="http://schemas.openxmlformats.org/officeDocument/2006/relationships/image" Target="../media/image134.png" /><Relationship Id="rId6" Type="http://schemas.openxmlformats.org/officeDocument/2006/relationships/image" Target="../media/image135.png" /><Relationship Id="rId7" Type="http://schemas.openxmlformats.org/officeDocument/2006/relationships/image" Target="../media/image136.png" /><Relationship Id="rId8" Type="http://schemas.openxmlformats.org/officeDocument/2006/relationships/image" Target="../media/image137.png" /><Relationship Id="rId9" Type="http://schemas.openxmlformats.org/officeDocument/2006/relationships/image" Target="../media/image13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52.png" /><Relationship Id="rId11" Type="http://schemas.openxmlformats.org/officeDocument/2006/relationships/image" Target="../media/image153.png" /><Relationship Id="rId12" Type="http://schemas.openxmlformats.org/officeDocument/2006/relationships/image" Target="../media/image154.png" /><Relationship Id="rId2" Type="http://schemas.openxmlformats.org/officeDocument/2006/relationships/image" Target="../media/image144.png" /><Relationship Id="rId3" Type="http://schemas.openxmlformats.org/officeDocument/2006/relationships/image" Target="../media/image145.png" /><Relationship Id="rId4" Type="http://schemas.openxmlformats.org/officeDocument/2006/relationships/image" Target="../media/image146.png" /><Relationship Id="rId5" Type="http://schemas.openxmlformats.org/officeDocument/2006/relationships/image" Target="../media/image147.png" /><Relationship Id="rId6" Type="http://schemas.openxmlformats.org/officeDocument/2006/relationships/image" Target="../media/image148.png" /><Relationship Id="rId7" Type="http://schemas.openxmlformats.org/officeDocument/2006/relationships/image" Target="../media/image149.png" /><Relationship Id="rId8" Type="http://schemas.openxmlformats.org/officeDocument/2006/relationships/image" Target="../media/image150.png" /><Relationship Id="rId9" Type="http://schemas.openxmlformats.org/officeDocument/2006/relationships/image" Target="../media/image151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63.png" /><Relationship Id="rId11" Type="http://schemas.openxmlformats.org/officeDocument/2006/relationships/image" Target="../media/image164.png" /><Relationship Id="rId12" Type="http://schemas.openxmlformats.org/officeDocument/2006/relationships/image" Target="../media/image165.png" /><Relationship Id="rId13" Type="http://schemas.openxmlformats.org/officeDocument/2006/relationships/image" Target="../media/image166.png" /><Relationship Id="rId14" Type="http://schemas.openxmlformats.org/officeDocument/2006/relationships/image" Target="../media/image167.png" /><Relationship Id="rId15" Type="http://schemas.openxmlformats.org/officeDocument/2006/relationships/image" Target="../media/image168.png" /><Relationship Id="rId16" Type="http://schemas.openxmlformats.org/officeDocument/2006/relationships/image" Target="../media/image169.png" /><Relationship Id="rId17" Type="http://schemas.openxmlformats.org/officeDocument/2006/relationships/image" Target="../media/image170.png" /><Relationship Id="rId18" Type="http://schemas.openxmlformats.org/officeDocument/2006/relationships/image" Target="../media/image171.png" /><Relationship Id="rId19" Type="http://schemas.openxmlformats.org/officeDocument/2006/relationships/image" Target="../media/image172.png" /><Relationship Id="rId2" Type="http://schemas.openxmlformats.org/officeDocument/2006/relationships/image" Target="../media/image155.png" /><Relationship Id="rId20" Type="http://schemas.openxmlformats.org/officeDocument/2006/relationships/image" Target="../media/image173.png" /><Relationship Id="rId21" Type="http://schemas.openxmlformats.org/officeDocument/2006/relationships/image" Target="../media/image174.png" /><Relationship Id="rId22" Type="http://schemas.openxmlformats.org/officeDocument/2006/relationships/image" Target="../media/image175.png" /><Relationship Id="rId23" Type="http://schemas.openxmlformats.org/officeDocument/2006/relationships/image" Target="../media/image176.png" /><Relationship Id="rId24" Type="http://schemas.openxmlformats.org/officeDocument/2006/relationships/image" Target="../media/image177.png" /><Relationship Id="rId25" Type="http://schemas.openxmlformats.org/officeDocument/2006/relationships/image" Target="../media/image178.png" /><Relationship Id="rId26" Type="http://schemas.openxmlformats.org/officeDocument/2006/relationships/image" Target="../media/image179.png" /><Relationship Id="rId27" Type="http://schemas.openxmlformats.org/officeDocument/2006/relationships/image" Target="../media/image180.png" /><Relationship Id="rId28" Type="http://schemas.openxmlformats.org/officeDocument/2006/relationships/image" Target="../media/image181.png" /><Relationship Id="rId29" Type="http://schemas.openxmlformats.org/officeDocument/2006/relationships/image" Target="../media/image182.png" /><Relationship Id="rId3" Type="http://schemas.openxmlformats.org/officeDocument/2006/relationships/image" Target="../media/image156.png" /><Relationship Id="rId30" Type="http://schemas.openxmlformats.org/officeDocument/2006/relationships/image" Target="../media/image183.png" /><Relationship Id="rId31" Type="http://schemas.openxmlformats.org/officeDocument/2006/relationships/image" Target="../media/image184.png" /><Relationship Id="rId32" Type="http://schemas.openxmlformats.org/officeDocument/2006/relationships/image" Target="../media/image185.png" /><Relationship Id="rId33" Type="http://schemas.openxmlformats.org/officeDocument/2006/relationships/image" Target="../media/image186.png" /><Relationship Id="rId34" Type="http://schemas.openxmlformats.org/officeDocument/2006/relationships/image" Target="../media/image187.png" /><Relationship Id="rId35" Type="http://schemas.openxmlformats.org/officeDocument/2006/relationships/image" Target="../media/image188.png" /><Relationship Id="rId36" Type="http://schemas.openxmlformats.org/officeDocument/2006/relationships/image" Target="../media/image189.png" /><Relationship Id="rId37" Type="http://schemas.openxmlformats.org/officeDocument/2006/relationships/image" Target="../media/image190.png" /><Relationship Id="rId4" Type="http://schemas.openxmlformats.org/officeDocument/2006/relationships/image" Target="../media/image157.png" /><Relationship Id="rId5" Type="http://schemas.openxmlformats.org/officeDocument/2006/relationships/image" Target="../media/image158.png" /><Relationship Id="rId6" Type="http://schemas.openxmlformats.org/officeDocument/2006/relationships/image" Target="../media/image159.png" /><Relationship Id="rId7" Type="http://schemas.openxmlformats.org/officeDocument/2006/relationships/image" Target="../media/image160.png" /><Relationship Id="rId8" Type="http://schemas.openxmlformats.org/officeDocument/2006/relationships/image" Target="../media/image161.png" /><Relationship Id="rId9" Type="http://schemas.openxmlformats.org/officeDocument/2006/relationships/image" Target="../media/image162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199.png" /><Relationship Id="rId11" Type="http://schemas.openxmlformats.org/officeDocument/2006/relationships/image" Target="../media/image200.png" /><Relationship Id="rId12" Type="http://schemas.openxmlformats.org/officeDocument/2006/relationships/image" Target="../media/image201.png" /><Relationship Id="rId2" Type="http://schemas.openxmlformats.org/officeDocument/2006/relationships/image" Target="../media/image191.png" /><Relationship Id="rId3" Type="http://schemas.openxmlformats.org/officeDocument/2006/relationships/image" Target="../media/image192.png" /><Relationship Id="rId4" Type="http://schemas.openxmlformats.org/officeDocument/2006/relationships/image" Target="../media/image193.png" /><Relationship Id="rId5" Type="http://schemas.openxmlformats.org/officeDocument/2006/relationships/image" Target="../media/image194.png" /><Relationship Id="rId6" Type="http://schemas.openxmlformats.org/officeDocument/2006/relationships/image" Target="../media/image195.png" /><Relationship Id="rId7" Type="http://schemas.openxmlformats.org/officeDocument/2006/relationships/image" Target="../media/image196.png" /><Relationship Id="rId8" Type="http://schemas.openxmlformats.org/officeDocument/2006/relationships/image" Target="../media/image197.png" /><Relationship Id="rId9" Type="http://schemas.openxmlformats.org/officeDocument/2006/relationships/image" Target="../media/image198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210.png" /><Relationship Id="rId11" Type="http://schemas.openxmlformats.org/officeDocument/2006/relationships/image" Target="../media/image211.png" /><Relationship Id="rId12" Type="http://schemas.openxmlformats.org/officeDocument/2006/relationships/image" Target="../media/image212.png" /><Relationship Id="rId13" Type="http://schemas.openxmlformats.org/officeDocument/2006/relationships/image" Target="../media/image213.png" /><Relationship Id="rId14" Type="http://schemas.openxmlformats.org/officeDocument/2006/relationships/image" Target="../media/image214.png" /><Relationship Id="rId15" Type="http://schemas.openxmlformats.org/officeDocument/2006/relationships/image" Target="../media/image215.png" /><Relationship Id="rId16" Type="http://schemas.openxmlformats.org/officeDocument/2006/relationships/image" Target="../media/image216.png" /><Relationship Id="rId2" Type="http://schemas.openxmlformats.org/officeDocument/2006/relationships/image" Target="../media/image202.png" /><Relationship Id="rId3" Type="http://schemas.openxmlformats.org/officeDocument/2006/relationships/image" Target="../media/image203.png" /><Relationship Id="rId4" Type="http://schemas.openxmlformats.org/officeDocument/2006/relationships/image" Target="../media/image204.png" /><Relationship Id="rId5" Type="http://schemas.openxmlformats.org/officeDocument/2006/relationships/image" Target="../media/image205.png" /><Relationship Id="rId6" Type="http://schemas.openxmlformats.org/officeDocument/2006/relationships/image" Target="../media/image206.png" /><Relationship Id="rId7" Type="http://schemas.openxmlformats.org/officeDocument/2006/relationships/image" Target="../media/image207.png" /><Relationship Id="rId8" Type="http://schemas.openxmlformats.org/officeDocument/2006/relationships/image" Target="../media/image208.png" /><Relationship Id="rId9" Type="http://schemas.openxmlformats.org/officeDocument/2006/relationships/image" Target="../media/image209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225.png" /><Relationship Id="rId11" Type="http://schemas.openxmlformats.org/officeDocument/2006/relationships/image" Target="../media/image226.png" /><Relationship Id="rId12" Type="http://schemas.openxmlformats.org/officeDocument/2006/relationships/image" Target="../media/image227.png" /><Relationship Id="rId13" Type="http://schemas.openxmlformats.org/officeDocument/2006/relationships/image" Target="../media/image228.png" /><Relationship Id="rId2" Type="http://schemas.openxmlformats.org/officeDocument/2006/relationships/image" Target="../media/image217.png" /><Relationship Id="rId3" Type="http://schemas.openxmlformats.org/officeDocument/2006/relationships/image" Target="../media/image218.png" /><Relationship Id="rId4" Type="http://schemas.openxmlformats.org/officeDocument/2006/relationships/image" Target="../media/image219.png" /><Relationship Id="rId5" Type="http://schemas.openxmlformats.org/officeDocument/2006/relationships/image" Target="../media/image220.png" /><Relationship Id="rId6" Type="http://schemas.openxmlformats.org/officeDocument/2006/relationships/image" Target="../media/image221.png" /><Relationship Id="rId7" Type="http://schemas.openxmlformats.org/officeDocument/2006/relationships/image" Target="../media/image222.png" /><Relationship Id="rId8" Type="http://schemas.openxmlformats.org/officeDocument/2006/relationships/image" Target="../media/image223.png" /><Relationship Id="rId9" Type="http://schemas.openxmlformats.org/officeDocument/2006/relationships/image" Target="../media/image22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9.png" /><Relationship Id="rId3" Type="http://schemas.openxmlformats.org/officeDocument/2006/relationships/image" Target="../media/image230.png" /><Relationship Id="rId4" Type="http://schemas.openxmlformats.org/officeDocument/2006/relationships/image" Target="../media/image231.png" /><Relationship Id="rId5" Type="http://schemas.openxmlformats.org/officeDocument/2006/relationships/image" Target="../media/image232.png" /><Relationship Id="rId6" Type="http://schemas.openxmlformats.org/officeDocument/2006/relationships/image" Target="../media/image233.png" /><Relationship Id="rId7" Type="http://schemas.openxmlformats.org/officeDocument/2006/relationships/image" Target="../media/image234.png" /><Relationship Id="rId8" Type="http://schemas.openxmlformats.org/officeDocument/2006/relationships/image" Target="../media/image235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6.png" /><Relationship Id="rId3" Type="http://schemas.openxmlformats.org/officeDocument/2006/relationships/image" Target="../media/image237.png" /><Relationship Id="rId4" Type="http://schemas.openxmlformats.org/officeDocument/2006/relationships/image" Target="../media/image238.png" /><Relationship Id="rId5" Type="http://schemas.openxmlformats.org/officeDocument/2006/relationships/image" Target="../media/image239.png" /><Relationship Id="rId6" Type="http://schemas.openxmlformats.org/officeDocument/2006/relationships/image" Target="../media/image240.png" /><Relationship Id="rId7" Type="http://schemas.openxmlformats.org/officeDocument/2006/relationships/image" Target="../media/image241.png" /><Relationship Id="rId8" Type="http://schemas.openxmlformats.org/officeDocument/2006/relationships/image" Target="../media/image242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image" Target="../media/image251.png" /><Relationship Id="rId2" Type="http://schemas.openxmlformats.org/officeDocument/2006/relationships/image" Target="../media/image243.png" /><Relationship Id="rId3" Type="http://schemas.openxmlformats.org/officeDocument/2006/relationships/image" Target="../media/image244.png" /><Relationship Id="rId4" Type="http://schemas.openxmlformats.org/officeDocument/2006/relationships/image" Target="../media/image245.png" /><Relationship Id="rId5" Type="http://schemas.openxmlformats.org/officeDocument/2006/relationships/image" Target="../media/image246.png" /><Relationship Id="rId6" Type="http://schemas.openxmlformats.org/officeDocument/2006/relationships/image" Target="../media/image247.png" /><Relationship Id="rId7" Type="http://schemas.openxmlformats.org/officeDocument/2006/relationships/image" Target="../media/image248.png" /><Relationship Id="rId8" Type="http://schemas.openxmlformats.org/officeDocument/2006/relationships/image" Target="../media/image249.png" /><Relationship Id="rId9" Type="http://schemas.openxmlformats.org/officeDocument/2006/relationships/image" Target="../media/image250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2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07160" y="459314"/>
            <a:ext cx="3497444" cy="507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99019" marR="0">
              <a:lnSpc>
                <a:spcPts val="2097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1">
                <a:solidFill>
                  <a:srgbClr val="000000"/>
                </a:solidFill>
                <a:latin typeface="BCMESO+LMSans12-Regular"/>
                <a:cs typeface="BCMESO+LMSans12-Regular"/>
              </a:rPr>
              <a:t>No</a:t>
            </a:r>
            <a:r>
              <a:rPr dirty="0" sz="1450" spc="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BCMESO+LMSans12-Regular"/>
                <a:cs typeface="BCMESO+LMSans12-Regular"/>
              </a:rPr>
              <a:t>Man’s</a:t>
            </a:r>
            <a:r>
              <a:rPr dirty="0" sz="1450" spc="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BCMESO+LMSans12-Regular"/>
                <a:cs typeface="BCMESO+LMSans12-Regular"/>
              </a:rPr>
              <a:t>Land</a:t>
            </a:r>
          </a:p>
          <a:p>
            <a:pPr marL="0" marR="0">
              <a:lnSpc>
                <a:spcPts val="1596"/>
              </a:lnSpc>
              <a:spcBef>
                <a:spcPts val="5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A</a:t>
            </a:r>
            <a:r>
              <a:rPr dirty="0" sz="11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custom</a:t>
            </a:r>
            <a:r>
              <a:rPr dirty="0" sz="11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SystemVerilog</a:t>
            </a:r>
            <a:r>
              <a:rPr dirty="0" sz="11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GPU</a:t>
            </a:r>
            <a:r>
              <a:rPr dirty="0" sz="11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and</a:t>
            </a:r>
            <a:r>
              <a:rPr dirty="0" sz="11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game</a:t>
            </a:r>
            <a:r>
              <a:rPr dirty="0" sz="11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on</a:t>
            </a:r>
            <a:r>
              <a:rPr dirty="0" sz="11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11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DE1-SoC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2204" y="1203158"/>
            <a:ext cx="3348091" cy="24079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Rohit</a:t>
            </a:r>
            <a:r>
              <a:rPr dirty="0" sz="11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Biswas</a:t>
            </a:r>
            <a:r>
              <a:rPr dirty="0" sz="1100" spc="11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Kambinachi</a:t>
            </a:r>
            <a:r>
              <a:rPr dirty="0" sz="11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Obioha</a:t>
            </a:r>
            <a:r>
              <a:rPr dirty="0" sz="1100" spc="110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Nicola</a:t>
            </a:r>
            <a:r>
              <a:rPr dirty="0" sz="11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Paparella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95818" y="1558550"/>
            <a:ext cx="2721491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CSEE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4840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—</a:t>
            </a:r>
            <a:r>
              <a:rPr dirty="0" sz="80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Embedded</a:t>
            </a:r>
            <a:r>
              <a:rPr dirty="0" sz="80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System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Design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—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Spring</a:t>
            </a:r>
            <a:r>
              <a:rPr dirty="0" sz="800" spc="3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76056" y="2631010"/>
            <a:ext cx="1960442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Instructor:</a:t>
            </a:r>
            <a:r>
              <a:rPr dirty="0" sz="1000" spc="1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Prof.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Stephen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Edwards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542353" y="474065"/>
            <a:ext cx="4675269" cy="2620632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000" y="44124"/>
            <a:ext cx="1863409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The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system,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running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1263253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System</a:t>
            </a:r>
            <a:r>
              <a:rPr dirty="0" sz="1450" spc="6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block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89408" y="997567"/>
            <a:ext cx="299622" cy="15743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HPS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55673" y="997567"/>
            <a:ext cx="595424" cy="2591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FPGA</a:t>
            </a:r>
            <a:r>
              <a:rPr dirty="0" sz="650" spc="3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fabric</a:t>
            </a:r>
          </a:p>
          <a:p>
            <a:pPr marL="82586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nml_gpu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23349" y="1095980"/>
            <a:ext cx="831817" cy="460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0481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(ARM</a:t>
            </a:r>
            <a:r>
              <a:rPr dirty="0" sz="65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Cortex-A9)</a:t>
            </a:r>
          </a:p>
          <a:p>
            <a:pPr marL="0" marR="0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nml_game</a:t>
            </a:r>
            <a:r>
              <a:rPr dirty="0" sz="65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userspace</a:t>
            </a:r>
          </a:p>
          <a:p>
            <a:pPr marL="21253" marR="0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game</a:t>
            </a:r>
            <a:r>
              <a:rPr dirty="0" sz="6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loop</a:t>
            </a:r>
            <a:r>
              <a:rPr dirty="0" sz="6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@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60</a:t>
            </a:r>
            <a:r>
              <a:rPr dirty="0" sz="650" spc="-9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Hz</a:t>
            </a:r>
          </a:p>
          <a:p>
            <a:pPr marL="57105" marR="0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/dev/mem</a:t>
            </a:r>
            <a:r>
              <a:rPr dirty="0" sz="65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mmap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2709" y="1143694"/>
            <a:ext cx="664392" cy="2601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SNES</a:t>
            </a:r>
            <a:r>
              <a:rPr dirty="0" sz="6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gamepad</a:t>
            </a:r>
          </a:p>
          <a:p>
            <a:pPr marL="140839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(evdev)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62056" y="1160681"/>
            <a:ext cx="297985" cy="1360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-12">
                <a:solidFill>
                  <a:srgbClr val="000000"/>
                </a:solidFill>
                <a:latin typeface="OWJTJR+LMSans8-Regular"/>
                <a:cs typeface="OWJTJR+LMSans8-Regular"/>
              </a:rPr>
              <a:t>event0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281959" y="1160681"/>
            <a:ext cx="365835" cy="1360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-25">
                <a:solidFill>
                  <a:srgbClr val="000000"/>
                </a:solidFill>
                <a:latin typeface="OWJTJR+LMSans8-Regular"/>
                <a:cs typeface="OWJTJR+LMSans8-Regular"/>
              </a:rPr>
              <a:t>VGA</a:t>
            </a:r>
            <a:r>
              <a:rPr dirty="0" sz="55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550" spc="-13">
                <a:solidFill>
                  <a:srgbClr val="000000"/>
                </a:solidFill>
                <a:latin typeface="OWJTJR+LMSans8-Regular"/>
                <a:cs typeface="OWJTJR+LMSans8-Regular"/>
              </a:rPr>
              <a:t>out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71546" y="1143694"/>
            <a:ext cx="585834" cy="2601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01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VGA</a:t>
            </a:r>
            <a:r>
              <a:rPr dirty="0" sz="65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monitor</a:t>
            </a:r>
          </a:p>
          <a:p>
            <a:pPr marL="0" marR="0">
              <a:lnSpc>
                <a:spcPts val="78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(24-bit</a:t>
            </a:r>
            <a:r>
              <a:rPr dirty="0" sz="6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RGB)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575595" y="1196054"/>
            <a:ext cx="555562" cy="1601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Avalon</a:t>
            </a:r>
            <a:r>
              <a:rPr dirty="0" sz="65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slave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321231" y="1296127"/>
            <a:ext cx="1081322" cy="2601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65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engine</a:t>
            </a:r>
            <a:r>
              <a:rPr dirty="0" sz="65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compositor</a:t>
            </a:r>
          </a:p>
          <a:p>
            <a:pPr marL="141023" marR="0">
              <a:lnSpc>
                <a:spcPts val="787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32">
                <a:solidFill>
                  <a:srgbClr val="000000"/>
                </a:solidFill>
                <a:latin typeface="MRDOQG+LMSans10-Regular"/>
                <a:cs typeface="MRDOQG+LMSans10-Regular"/>
              </a:rPr>
              <a:t>25MHz</a:t>
            </a:r>
            <a:r>
              <a:rPr dirty="0" sz="650" spc="-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pixel</a:t>
            </a:r>
            <a:r>
              <a:rPr dirty="0" sz="6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clock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56967" y="1672287"/>
            <a:ext cx="2507230" cy="1601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Avalon-MM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-69">
                <a:solidFill>
                  <a:srgbClr val="000000"/>
                </a:solidFill>
                <a:latin typeface="MRDOQG+LMSans10-Regular"/>
                <a:cs typeface="MRDOQG+LMSans10-Regular"/>
              </a:rPr>
              <a:t>LW</a:t>
            </a:r>
            <a:r>
              <a:rPr dirty="0" sz="650" spc="8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bridge</a:t>
            </a:r>
            <a:r>
              <a:rPr dirty="0" sz="650" spc="4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32">
                <a:solidFill>
                  <a:srgbClr val="000000"/>
                </a:solidFill>
                <a:latin typeface="MRDOQG+LMSans10-Regular"/>
                <a:cs typeface="MRDOQG+LMSans10-Regular"/>
              </a:rPr>
              <a:t>50MHz</a:t>
            </a:r>
            <a:r>
              <a:rPr dirty="0" sz="650" spc="4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32-bit</a:t>
            </a:r>
            <a:r>
              <a:rPr dirty="0" sz="6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data</a:t>
            </a:r>
            <a:r>
              <a:rPr dirty="0" sz="650" spc="4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14-bit</a:t>
            </a:r>
            <a:r>
              <a:rPr dirty="0" sz="6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byte</a:t>
            </a:r>
            <a:r>
              <a:rPr dirty="0" sz="65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address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28001" y="1994079"/>
            <a:ext cx="4056000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HPS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writes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shadow</a:t>
            </a:r>
            <a:r>
              <a:rPr dirty="0" sz="10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state;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FPGA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latches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VSYNC;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pixels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always</a:t>
            </a:r>
            <a:r>
              <a:rPr dirty="0" sz="100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stream.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2016345" cy="300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What’s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inside</a:t>
            </a:r>
            <a:r>
              <a:rPr dirty="0" sz="1450" spc="6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RJHAVG+LMMonoLt10-Bold"/>
                <a:cs typeface="RJHAVG+LMMonoLt10-Bold"/>
              </a:rPr>
              <a:t>nml_gpu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46108" y="468618"/>
            <a:ext cx="960347" cy="2308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nml_gpu</a:t>
            </a:r>
            <a:r>
              <a:rPr dirty="0" sz="1050" spc="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(top)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6493" y="1308993"/>
            <a:ext cx="1391260" cy="7738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avalon_slave_iface</a:t>
            </a:r>
          </a:p>
          <a:p>
            <a:pPr marL="240899" marR="0">
              <a:lnSpc>
                <a:spcPts val="1374"/>
              </a:lnSpc>
              <a:spcBef>
                <a:spcPts val="3043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sprite_eval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13945" y="1305374"/>
            <a:ext cx="771830" cy="21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pll_25mhz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27593" y="1305374"/>
            <a:ext cx="840656" cy="21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vga_timing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04225" y="1870126"/>
            <a:ext cx="978307" cy="21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sprite_fetch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34316" y="1870126"/>
            <a:ext cx="840656" cy="212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KMBAWC+LMMono10-Regular"/>
                <a:cs typeface="KMBAWC+LMMono10-Regular"/>
              </a:rPr>
              <a:t>compositor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4151" y="2406220"/>
            <a:ext cx="1375791" cy="2298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105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 spc="-13">
                <a:solidFill>
                  <a:srgbClr val="000000"/>
                </a:solidFill>
                <a:latin typeface="MRDOQG+LMSans10-Regular"/>
                <a:cs typeface="MRDOQG+LMSans10-Regular"/>
              </a:rPr>
              <a:t>ROM,</a:t>
            </a:r>
            <a:r>
              <a:rPr dirty="0" sz="105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ROM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77811" y="2406220"/>
            <a:ext cx="1052350" cy="2298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palette,</a:t>
            </a:r>
            <a:r>
              <a:rPr dirty="0" sz="105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map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88118" y="2406220"/>
            <a:ext cx="1487564" cy="2298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105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tables,</a:t>
            </a:r>
            <a:r>
              <a:rPr dirty="0" sz="105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line</a:t>
            </a:r>
            <a:r>
              <a:rPr dirty="0" sz="10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bu</a:t>
            </a:r>
            <a:r>
              <a:rPr dirty="0" sz="1050" spc="-10">
                <a:solidFill>
                  <a:srgbClr val="000000"/>
                </a:solidFill>
                <a:latin typeface="UCHHUL+LMSans10-Regular"/>
                <a:cs typeface="UCHHUL+LMSans10-Regular"/>
              </a:rPr>
              <a:t>!</a:t>
            </a:r>
            <a:r>
              <a:rPr dirty="0" sz="1050">
                <a:solidFill>
                  <a:srgbClr val="000000"/>
                </a:solidFill>
                <a:latin typeface="MRDOQG+LMSans10-Regular"/>
                <a:cs typeface="MRDOQG+LMSans10-Regular"/>
              </a:rPr>
              <a:t>ers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79171" y="2771726"/>
            <a:ext cx="4953392" cy="375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50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MHz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domain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(Avalon)</a:t>
            </a:r>
            <a:r>
              <a:rPr dirty="0" sz="100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25</a:t>
            </a:r>
            <a:r>
              <a:rPr dirty="0" sz="1000" spc="-15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MHz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domain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(pixel).</a:t>
            </a:r>
            <a:r>
              <a:rPr dirty="0" sz="1000" spc="12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All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RAMs/ROMs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inferred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as</a:t>
            </a:r>
          </a:p>
          <a:p>
            <a:pPr marL="2220709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M10K.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4667235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6">
                <a:solidFill>
                  <a:srgbClr val="000000"/>
                </a:solidFill>
                <a:latin typeface="PBIMLA+LMSans10-Bold"/>
                <a:cs typeface="PBIMLA+LMSans10-Bold"/>
              </a:rPr>
              <a:t>Avalon</a:t>
            </a:r>
            <a:r>
              <a:rPr dirty="0" sz="1450" spc="7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register</a:t>
            </a:r>
            <a:r>
              <a:rPr dirty="0" sz="14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map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16</a:t>
            </a:r>
            <a:r>
              <a:rPr dirty="0" sz="1450" spc="-20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KB</a:t>
            </a:r>
            <a:r>
              <a:rPr dirty="0" sz="1450" spc="5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7">
                <a:solidFill>
                  <a:srgbClr val="000000"/>
                </a:solidFill>
                <a:latin typeface="PBIMLA+LMSans10-Bold"/>
                <a:cs typeface="PBIMLA+LMSans10-Bold"/>
              </a:rPr>
              <a:t>window</a:t>
            </a:r>
            <a:r>
              <a:rPr dirty="0" sz="1450" spc="6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at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0xFF200000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914" y="497083"/>
            <a:ext cx="503253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O</a:t>
            </a:r>
            <a:r>
              <a:rPr dirty="0" sz="1000">
                <a:solidFill>
                  <a:srgbClr val="000000"/>
                </a:solidFill>
                <a:latin typeface="OVPJTT+LMSans10-Bold"/>
                <a:cs typeface="OVPJTT+LMSans10-Bold"/>
              </a:rPr>
              <a:t>!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set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51278" y="497083"/>
            <a:ext cx="493637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Name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00215" y="497083"/>
            <a:ext cx="547158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4">
                <a:solidFill>
                  <a:srgbClr val="000000"/>
                </a:solidFill>
                <a:latin typeface="PBIMLA+LMSans10-Bold"/>
                <a:cs typeface="PBIMLA+LMSans10-Bold"/>
              </a:rPr>
              <a:t>Layout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5914" y="758164"/>
            <a:ext cx="550953" cy="16034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0x0000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0x0004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0x0008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0x000C</a:t>
            </a:r>
          </a:p>
          <a:p>
            <a:pPr marL="0" marR="0">
              <a:lnSpc>
                <a:spcPts val="1327"/>
              </a:lnSpc>
              <a:spcBef>
                <a:spcPts val="4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0x0010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0x0014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0x0018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0x001C</a:t>
            </a:r>
          </a:p>
          <a:p>
            <a:pPr marL="0" marR="0">
              <a:lnSpc>
                <a:spcPts val="1327"/>
              </a:lnSpc>
              <a:spcBef>
                <a:spcPts val="4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0x0020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1278" y="758164"/>
            <a:ext cx="816656" cy="9050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CTRL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STATUS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BG_SCROLL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IRQ_MASK</a:t>
            </a:r>
          </a:p>
          <a:p>
            <a:pPr marL="0" marR="0">
              <a:lnSpc>
                <a:spcPts val="1327"/>
              </a:lnSpc>
              <a:spcBef>
                <a:spcPts val="4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PLAYER_POS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400215" y="740704"/>
            <a:ext cx="3218708" cy="747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=ENABLE,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[1]</a:t>
            </a:r>
            <a:r>
              <a:rPr dirty="0" sz="1000" spc="-22">
                <a:solidFill>
                  <a:srgbClr val="000000"/>
                </a:solidFill>
                <a:latin typeface="MRDOQG+LMSans10-Regular"/>
                <a:cs typeface="MRDOQG+LMSans10-Regular"/>
              </a:rPr>
              <a:t>=SWAP</a:t>
            </a:r>
            <a:r>
              <a:rPr dirty="0" sz="1000" spc="3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(auto-clear),</a:t>
            </a:r>
            <a:r>
              <a:rPr dirty="0" sz="100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[2]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=HUD_ON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=VBLANK,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=SWAP_PENDING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[15:0]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=scroll_x,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[31:16]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=scroll_y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(signed)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=VBLANK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IRQ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enable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00215" y="1439115"/>
            <a:ext cx="1530510" cy="224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[15:0]</a:t>
            </a:r>
            <a:r>
              <a:rPr dirty="0" sz="10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=px,</a:t>
            </a:r>
            <a:r>
              <a:rPr dirty="0" sz="10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[31:16]</a:t>
            </a:r>
            <a:r>
              <a:rPr dirty="0" sz="1000" spc="-16">
                <a:solidFill>
                  <a:srgbClr val="000000"/>
                </a:solidFill>
                <a:latin typeface="MRDOQG+LMSans10-Regular"/>
                <a:cs typeface="MRDOQG+LMSans10-Regular"/>
              </a:rPr>
              <a:t>=py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51278" y="1613714"/>
            <a:ext cx="3764258" cy="747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PLAYER_STATS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[7:0]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=hp,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[15:8]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=wave</a:t>
            </a:r>
            <a:r>
              <a:rPr dirty="0" sz="1000" spc="2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(BCD),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[31:16]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=level</a:t>
            </a:r>
          </a:p>
          <a:p>
            <a:pPr marL="0" marR="0">
              <a:lnSpc>
                <a:spcPts val="1327"/>
              </a:lnSpc>
              <a:spcBef>
                <a:spcPts val="4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SCORE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KILL_COUNT</a:t>
            </a:r>
          </a:p>
          <a:p>
            <a:pPr marL="0" marR="0">
              <a:lnSpc>
                <a:spcPts val="1327"/>
              </a:lnSpc>
              <a:spcBef>
                <a:spcPts val="97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HUD_AUX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400215" y="1788327"/>
            <a:ext cx="2740545" cy="5732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[23:0]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=6-digit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BCD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score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32-bit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kills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[7:0]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=ammo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BCD,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[11:8]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=art,</a:t>
            </a:r>
            <a:r>
              <a:rPr dirty="0" sz="1000" spc="2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[15:12]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=gas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5914" y="2386208"/>
            <a:ext cx="1839485" cy="570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0x0100–0x01FF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Sprite</a:t>
            </a:r>
            <a:r>
              <a:rPr dirty="0" sz="1000" spc="5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table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0x0400–0x07FF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Palette</a:t>
            </a:r>
          </a:p>
          <a:p>
            <a:pPr marL="0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0x1000–0x22BF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Tile</a:t>
            </a:r>
            <a:r>
              <a:rPr dirty="0" sz="100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map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400229" y="2383677"/>
            <a:ext cx="1017893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entries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164">
                <a:solidFill>
                  <a:srgbClr val="000000"/>
                </a:solidFill>
                <a:latin typeface="MRDOQG+LMSans10-Regular"/>
                <a:cs typeface="MRDOQG+LMSans10-Regular"/>
              </a:rPr>
              <a:t>8B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400203" y="2558277"/>
            <a:ext cx="1738998" cy="4801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256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entries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165">
                <a:solidFill>
                  <a:srgbClr val="000000"/>
                </a:solidFill>
                <a:latin typeface="MRDOQG+LMSans10-Regular"/>
                <a:cs typeface="MRDOQG+LMSans10-Regular"/>
              </a:rPr>
              <a:t>4B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(RGB888)</a:t>
            </a:r>
          </a:p>
          <a:p>
            <a:pPr marL="38" marR="0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80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cols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60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rows,</a:t>
            </a:r>
            <a:r>
              <a:rPr dirty="0" sz="1000" spc="2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byte/tile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346855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Sprite-table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entry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8</a:t>
            </a:r>
            <a:r>
              <a:rPr dirty="0" sz="1450" spc="5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8">
                <a:solidFill>
                  <a:srgbClr val="000000"/>
                </a:solidFill>
                <a:latin typeface="PBIMLA+LMSans10-Bold"/>
                <a:cs typeface="PBIMLA+LMSans10-Bold"/>
              </a:rPr>
              <a:t>bytes</a:t>
            </a:r>
            <a:r>
              <a:rPr dirty="0" sz="1450" spc="7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/</a:t>
            </a:r>
            <a:r>
              <a:rPr dirty="0" sz="1450" spc="5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64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bits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70329" y="914045"/>
            <a:ext cx="743075" cy="159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9">
                <a:solidFill>
                  <a:srgbClr val="000000"/>
                </a:solidFill>
                <a:latin typeface="PBIMLA+LMSans10-Bold"/>
                <a:cs typeface="PBIMLA+LMSans10-Bold"/>
              </a:rPr>
              <a:t>W0</a:t>
            </a:r>
            <a:r>
              <a:rPr dirty="0" sz="650" spc="2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(o</a:t>
            </a:r>
            <a:r>
              <a:rPr dirty="0" sz="650" spc="12">
                <a:solidFill>
                  <a:srgbClr val="000000"/>
                </a:solidFill>
                <a:latin typeface="OVPJTT+LMSans10-Bold"/>
                <a:cs typeface="OVPJTT+LMSans10-Bold"/>
              </a:rPr>
              <a:t>!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set</a:t>
            </a:r>
            <a:r>
              <a:rPr dirty="0" sz="650" spc="3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0x0)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7777" y="1293139"/>
            <a:ext cx="595763" cy="162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x</a:t>
            </a:r>
            <a:r>
              <a:rPr dirty="0" sz="65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(signed</a:t>
            </a:r>
            <a:r>
              <a:rPr dirty="0" sz="65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16)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40108" y="1293139"/>
            <a:ext cx="595763" cy="1626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y</a:t>
            </a:r>
            <a:r>
              <a:rPr dirty="0" sz="65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(signed</a:t>
            </a:r>
            <a:r>
              <a:rPr dirty="0" sz="65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16)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70329" y="1516954"/>
            <a:ext cx="743075" cy="1593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9">
                <a:solidFill>
                  <a:srgbClr val="000000"/>
                </a:solidFill>
                <a:latin typeface="PBIMLA+LMSans10-Bold"/>
                <a:cs typeface="PBIMLA+LMSans10-Bold"/>
              </a:rPr>
              <a:t>W1</a:t>
            </a:r>
            <a:r>
              <a:rPr dirty="0" sz="650" spc="2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(o</a:t>
            </a:r>
            <a:r>
              <a:rPr dirty="0" sz="650" spc="12">
                <a:solidFill>
                  <a:srgbClr val="000000"/>
                </a:solidFill>
                <a:latin typeface="OVPJTT+LMSans10-Bold"/>
                <a:cs typeface="OVPJTT+LMSans10-Bold"/>
              </a:rPr>
              <a:t>!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set</a:t>
            </a:r>
            <a:r>
              <a:rPr dirty="0" sz="650" spc="3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0x4)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85484" y="1896097"/>
            <a:ext cx="524311" cy="1509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sprite_id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70645" y="1896097"/>
            <a:ext cx="346317" cy="1509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flags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233311" y="1896097"/>
            <a:ext cx="613308" cy="15099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KMBAWC+LMMono10-Regular"/>
                <a:cs typeface="KMBAWC+LMMono10-Regular"/>
              </a:rPr>
              <a:t>palette_off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31072" y="1892483"/>
            <a:ext cx="410133" cy="1621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6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reserved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36981" y="2260179"/>
            <a:ext cx="4838468" cy="24176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PBIMLA+LMSans10-Bold"/>
                <a:cs typeface="PBIMLA+LMSans10-Bold"/>
              </a:rPr>
              <a:t>ﬂags</a:t>
            </a:r>
            <a:r>
              <a:rPr dirty="0" sz="1100" spc="5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 spc="-13">
                <a:solidFill>
                  <a:srgbClr val="000000"/>
                </a:solidFill>
                <a:latin typeface="PBIMLA+LMSans10-Bold"/>
                <a:cs typeface="PBIMLA+LMSans10-Bold"/>
              </a:rPr>
              <a:t>byte:</a:t>
            </a:r>
            <a:r>
              <a:rPr dirty="0" sz="1100" spc="123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KMBAWC+LMMono10-Regular"/>
                <a:cs typeface="KMBAWC+LMMono10-Regular"/>
              </a:rPr>
              <a:t>[2]</a:t>
            </a:r>
            <a:r>
              <a:rPr dirty="0" sz="11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hﬂip</a:t>
            </a:r>
            <a:r>
              <a:rPr dirty="0" sz="1100" spc="74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KMBAWC+LMMono10-Regular"/>
                <a:cs typeface="KMBAWC+LMMono10-Regular"/>
              </a:rPr>
              <a:t>[3]</a:t>
            </a:r>
            <a:r>
              <a:rPr dirty="0" sz="11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vﬂip</a:t>
            </a:r>
            <a:r>
              <a:rPr dirty="0" sz="1100" spc="74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KMBAWC+LMMono10-Regular"/>
                <a:cs typeface="KMBAWC+LMMono10-Regular"/>
              </a:rPr>
              <a:t>[6:4]</a:t>
            </a:r>
            <a:r>
              <a:rPr dirty="0" sz="11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 spc="-15">
                <a:solidFill>
                  <a:srgbClr val="000000"/>
                </a:solidFill>
                <a:latin typeface="MRDOQG+LMSans10-Regular"/>
                <a:cs typeface="MRDOQG+LMSans10-Regular"/>
              </a:rPr>
              <a:t>priority</a:t>
            </a:r>
            <a:r>
              <a:rPr dirty="0" sz="110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(0</a:t>
            </a:r>
            <a:r>
              <a:rPr dirty="0" sz="11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=</a:t>
            </a:r>
            <a:r>
              <a:rPr dirty="0" sz="11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MRDOQG+LMSans10-Regular"/>
                <a:cs typeface="MRDOQG+LMSans10-Regular"/>
              </a:rPr>
              <a:t>highest)</a:t>
            </a:r>
            <a:r>
              <a:rPr dirty="0" sz="1100" spc="74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>
                <a:solidFill>
                  <a:srgbClr val="000000"/>
                </a:solidFill>
                <a:latin typeface="KMBAWC+LMMono10-Regular"/>
                <a:cs typeface="KMBAWC+LMMono10-Regular"/>
              </a:rPr>
              <a:t>[7]</a:t>
            </a:r>
            <a:r>
              <a:rPr dirty="0" sz="11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1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ACTIVE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4064802" cy="4196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20">
                <a:solidFill>
                  <a:srgbClr val="000000"/>
                </a:solidFill>
                <a:latin typeface="PBIMLA+LMSans10-Bold"/>
                <a:cs typeface="PBIMLA+LMSans10-Bold"/>
              </a:rPr>
              <a:t>Frame</a:t>
            </a:r>
            <a:r>
              <a:rPr dirty="0" sz="1450" spc="7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commit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6">
                <a:solidFill>
                  <a:srgbClr val="000000"/>
                </a:solidFill>
                <a:latin typeface="PBIMLA+LMSans10-Bold"/>
                <a:cs typeface="PBIMLA+LMSans10-Bold"/>
              </a:rPr>
              <a:t>shadow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↑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active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at</a:t>
            </a:r>
            <a:r>
              <a:rPr dirty="0" sz="14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1">
                <a:solidFill>
                  <a:srgbClr val="000000"/>
                </a:solidFill>
                <a:latin typeface="PBIMLA+LMSans10-Bold"/>
                <a:cs typeface="PBIMLA+LMSans10-Bold"/>
              </a:rPr>
              <a:t>VSYNC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2775" y="724776"/>
            <a:ext cx="302159" cy="163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4">
                <a:solidFill>
                  <a:srgbClr val="000000"/>
                </a:solidFill>
                <a:latin typeface="MRDOQG+LMSans10-Regular"/>
                <a:cs typeface="MRDOQG+LMSans10-Regular"/>
              </a:rPr>
              <a:t>CPU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40510" y="717601"/>
            <a:ext cx="655045" cy="163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pulse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stretcher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78025" y="719990"/>
            <a:ext cx="818097" cy="3699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4758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3-FF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synchroniser</a:t>
            </a:r>
          </a:p>
          <a:p>
            <a:pPr marL="0" marR="0">
              <a:lnSpc>
                <a:spcPts val="811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(25MHz</a:t>
            </a:r>
            <a:r>
              <a:rPr dirty="0" sz="700" spc="-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KMBAWC+LMMono10-Regular"/>
                <a:cs typeface="KMBAWC+LMMono10-Regular"/>
              </a:rPr>
              <a:t>pix_clk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)</a:t>
            </a:r>
          </a:p>
          <a:p>
            <a:pPr marL="135740" marR="0">
              <a:lnSpc>
                <a:spcPts val="811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edge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detect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5005" y="827875"/>
            <a:ext cx="637673" cy="1643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(50MHz</a:t>
            </a:r>
            <a:r>
              <a:rPr dirty="0" sz="700" spc="-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KMBAWC+LMMono10-Regular"/>
                <a:cs typeface="KMBAWC+LMMono10-Regular"/>
              </a:rPr>
              <a:t>clk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191526" y="820700"/>
            <a:ext cx="752793" cy="163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7</a:t>
            </a:r>
            <a:r>
              <a:rPr dirty="0" sz="700" spc="29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50</a:t>
            </a:r>
            <a:r>
              <a:rPr dirty="0" sz="700" spc="-1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MHz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cycles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4484" y="853263"/>
            <a:ext cx="200107" cy="187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9008" y="930974"/>
            <a:ext cx="1030835" cy="1643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writes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5">
                <a:solidFill>
                  <a:srgbClr val="000000"/>
                </a:solidFill>
                <a:latin typeface="MRDOQG+LMSans10-Regular"/>
                <a:cs typeface="MRDOQG+LMSans10-Regular"/>
              </a:rPr>
              <a:t>shadow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700" spc="-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KMBAWC+LMMono10-Regular"/>
                <a:cs typeface="KMBAWC+LMMono10-Regular"/>
              </a:rPr>
              <a:t>SWAP=1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33821" y="923808"/>
            <a:ext cx="468425" cy="163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(~140ns)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660182" y="1514047"/>
            <a:ext cx="853848" cy="42592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5622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7">
                <a:solidFill>
                  <a:srgbClr val="000000"/>
                </a:solidFill>
                <a:latin typeface="MRDOQG+LMSans10-Regular"/>
                <a:cs typeface="MRDOQG+LMSans10-Regular"/>
              </a:rPr>
              <a:t>wait</a:t>
            </a:r>
            <a:r>
              <a:rPr dirty="0" sz="7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9">
                <a:solidFill>
                  <a:srgbClr val="000000"/>
                </a:solidFill>
                <a:latin typeface="MRDOQG+LMSans10-Regular"/>
                <a:cs typeface="MRDOQG+LMSans10-Regular"/>
              </a:rPr>
              <a:t>for</a:t>
            </a:r>
            <a:r>
              <a:rPr dirty="0" sz="700" spc="2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KMBAWC+LMMono10-Regular"/>
                <a:cs typeface="KMBAWC+LMMono10-Regular"/>
              </a:rPr>
              <a:t>vsync</a:t>
            </a:r>
          </a:p>
          <a:p>
            <a:pPr marL="0" marR="0">
              <a:lnSpc>
                <a:spcPts val="811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bulk-copy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entries</a:t>
            </a:r>
          </a:p>
          <a:p>
            <a:pPr marL="53106" marR="0">
              <a:lnSpc>
                <a:spcPts val="811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5">
                <a:solidFill>
                  <a:srgbClr val="000000"/>
                </a:solidFill>
                <a:latin typeface="MRDOQG+LMSans10-Regular"/>
                <a:cs typeface="MRDOQG+LMSans10-Regular"/>
              </a:rPr>
              <a:t>shadow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↑</a:t>
            </a:r>
            <a:r>
              <a:rPr dirty="0" sz="700" spc="-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active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91569" y="1950677"/>
            <a:ext cx="1610072" cy="16439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4">
                <a:solidFill>
                  <a:srgbClr val="000000"/>
                </a:solidFill>
                <a:latin typeface="MRDOQG+LMSans10-Regular"/>
                <a:cs typeface="MRDOQG+LMSans10-Regular"/>
              </a:rPr>
              <a:t>CPU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then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polls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KMBAWC+LMMono10-Regular"/>
                <a:cs typeface="KMBAWC+LMMono10-Regular"/>
              </a:rPr>
              <a:t>STATUS.SWAP_PENDING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;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380129" y="2053777"/>
            <a:ext cx="1432732" cy="1637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9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 spc="-13">
                <a:solidFill>
                  <a:srgbClr val="000000"/>
                </a:solidFill>
                <a:latin typeface="MRDOQG+LMSans10-Regular"/>
                <a:cs typeface="MRDOQG+LMSans10-Regular"/>
              </a:rPr>
              <a:t>clears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cycle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after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>
                <a:solidFill>
                  <a:srgbClr val="000000"/>
                </a:solidFill>
                <a:latin typeface="MRDOQG+LMSans10-Regular"/>
                <a:cs typeface="MRDOQG+LMSans10-Regular"/>
              </a:rPr>
              <a:t>bulk</a:t>
            </a:r>
            <a:r>
              <a:rPr dirty="0" sz="7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700" spc="-30">
                <a:solidFill>
                  <a:srgbClr val="000000"/>
                </a:solidFill>
                <a:latin typeface="MRDOQG+LMSans10-Regular"/>
                <a:cs typeface="MRDOQG+LMSans10-Regular"/>
              </a:rPr>
              <a:t>copy.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94817" y="2314818"/>
            <a:ext cx="5121923" cy="375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20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ns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Avalon</a:t>
            </a:r>
            <a:r>
              <a:rPr dirty="0" sz="10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pulse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would</a:t>
            </a:r>
            <a:r>
              <a:rPr dirty="0" sz="10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slip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past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40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ns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pixel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clock.</a:t>
            </a:r>
            <a:r>
              <a:rPr dirty="0" sz="1000" spc="1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Widen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to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140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ns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and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CDC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is</a:t>
            </a:r>
          </a:p>
          <a:p>
            <a:pPr marL="2130729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deterministic.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807303" cy="300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Tile-map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22">
                <a:solidFill>
                  <a:srgbClr val="000000"/>
                </a:solidFill>
                <a:latin typeface="PBIMLA+LMSans10-Bold"/>
                <a:cs typeface="PBIMLA+LMSans10-Bold"/>
              </a:rPr>
              <a:t>byte</a:t>
            </a:r>
            <a:r>
              <a:rPr dirty="0" sz="1450" spc="8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writes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6">
                <a:solidFill>
                  <a:srgbClr val="000000"/>
                </a:solidFill>
                <a:latin typeface="PBIMLA+LMSans10-Bold"/>
                <a:cs typeface="PBIMLA+LMSans10-Bold"/>
              </a:rPr>
              <a:t>packed</a:t>
            </a:r>
            <a:r>
              <a:rPr dirty="0" sz="1450" spc="7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RJHAVG+LMMonoLt10-Bold"/>
                <a:cs typeface="RJHAVG+LMMonoLt10-Bold"/>
              </a:rPr>
              <a:t>[3:0][7:0]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17106" y="998084"/>
            <a:ext cx="1042557" cy="179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logic</a:t>
            </a:r>
            <a:r>
              <a:rPr dirty="0" sz="850" spc="1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[3:0][7:0]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09192" y="1120814"/>
            <a:ext cx="601611" cy="1931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 spc="-100">
                <a:solidFill>
                  <a:srgbClr val="000000"/>
                </a:solidFill>
                <a:latin typeface="MRDOQG+LMSans10-Regular"/>
                <a:cs typeface="MRDOQG+LMSans10-Regular"/>
              </a:rPr>
              <a:t>LW</a:t>
            </a:r>
            <a:r>
              <a:rPr dirty="0" sz="850" spc="9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bridge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17106" y="1125259"/>
            <a:ext cx="1265096" cy="17925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tilemap_ram</a:t>
            </a:r>
            <a:r>
              <a:rPr dirty="0" sz="850" spc="1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[0:1199]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5824" y="1185157"/>
            <a:ext cx="1010521" cy="1938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CPU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STRB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(1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2">
                <a:solidFill>
                  <a:srgbClr val="000000"/>
                </a:solidFill>
                <a:latin typeface="MRDOQG+LMSans10-Regular"/>
                <a:cs typeface="MRDOQG+LMSans10-Regular"/>
              </a:rPr>
              <a:t>byte)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97159" y="1247978"/>
            <a:ext cx="1225674" cy="19387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avs_byteenable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=0010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17106" y="1258987"/>
            <a:ext cx="2005201" cy="3182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lane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0</a:t>
            </a:r>
            <a:r>
              <a:rPr dirty="0" sz="850" spc="23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|</a:t>
            </a:r>
            <a:r>
              <a:rPr dirty="0" sz="850" spc="2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lane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1</a:t>
            </a:r>
            <a:r>
              <a:rPr dirty="0" sz="850" spc="23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|</a:t>
            </a:r>
            <a:r>
              <a:rPr dirty="0" sz="850" spc="2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lane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2</a:t>
            </a:r>
            <a:r>
              <a:rPr dirty="0" sz="850" spc="23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|</a:t>
            </a:r>
            <a:r>
              <a:rPr dirty="0" sz="850" spc="2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lane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3</a:t>
            </a:r>
          </a:p>
          <a:p>
            <a:pPr marL="105975" marR="0">
              <a:lnSpc>
                <a:spcPts val="1001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 spc="-27">
                <a:solidFill>
                  <a:srgbClr val="000000"/>
                </a:solidFill>
                <a:latin typeface="NSBDJE+LMRomanCaps10-Regular"/>
                <a:cs typeface="NSBDJE+LMRomanCaps10-Regular"/>
              </a:rPr>
              <a:t>only</a:t>
            </a:r>
            <a:r>
              <a:rPr dirty="0" sz="850" spc="6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NSBDJE+LMRomanCaps10-Regular"/>
                <a:cs typeface="NSBDJE+LMRomanCaps10-Regular"/>
              </a:rPr>
              <a:t>lane</a:t>
            </a:r>
            <a:r>
              <a:rPr dirty="0" sz="850" spc="4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NSBDJE+LMRomanCaps10-Regular"/>
                <a:cs typeface="NSBDJE+LMRomanCaps10-Regular"/>
              </a:rPr>
              <a:t>1</a:t>
            </a:r>
            <a:r>
              <a:rPr dirty="0" sz="850" spc="3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NSBDJE+LMRomanCaps10-Regular"/>
                <a:cs typeface="NSBDJE+LMRomanCaps10-Regular"/>
              </a:rPr>
              <a:t>writes;</a:t>
            </a:r>
            <a:r>
              <a:rPr dirty="0" sz="850" spc="4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NSBDJE+LMRomanCaps10-Regular"/>
                <a:cs typeface="NSBDJE+LMRomanCaps10-Regular"/>
              </a:rPr>
              <a:t>others</a:t>
            </a:r>
            <a:r>
              <a:rPr dirty="0" sz="8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NSBDJE+LMRomanCaps10-Regular"/>
                <a:cs typeface="NSBDJE+LMRomanCaps10-Regular"/>
              </a:rPr>
              <a:t>held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13819" y="1728234"/>
            <a:ext cx="2192204" cy="574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625" marR="0">
              <a:lnSpc>
                <a:spcPts val="1220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 spc="-12">
                <a:solidFill>
                  <a:srgbClr val="000000"/>
                </a:solidFill>
                <a:latin typeface="PBIMLA+LMSans10-Bold"/>
                <a:cs typeface="PBIMLA+LMSans10-Bold"/>
              </a:rPr>
              <a:t>Why</a:t>
            </a:r>
            <a:r>
              <a:rPr dirty="0" sz="85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2">
                <a:solidFill>
                  <a:srgbClr val="000000"/>
                </a:solidFill>
                <a:latin typeface="PBIMLA+LMSans10-Bold"/>
                <a:cs typeface="PBIMLA+LMSans10-Bold"/>
              </a:rPr>
              <a:t>packed?</a:t>
            </a:r>
            <a:r>
              <a:rPr dirty="0" sz="850" spc="15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Byte-organised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storage</a:t>
            </a:r>
            <a:r>
              <a:rPr dirty="0" sz="8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forced</a:t>
            </a:r>
          </a:p>
          <a:p>
            <a:pPr marL="99135" marR="0">
              <a:lnSpc>
                <a:spcPts val="1001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bridge</a:t>
            </a:r>
            <a:r>
              <a:rPr dirty="0" sz="85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RMW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to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clobber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3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lanes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per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9">
                <a:solidFill>
                  <a:srgbClr val="000000"/>
                </a:solidFill>
                <a:latin typeface="MRDOQG+LMSans10-Regular"/>
                <a:cs typeface="MRDOQG+LMSans10-Regular"/>
              </a:rPr>
              <a:t>word.</a:t>
            </a:r>
          </a:p>
          <a:p>
            <a:pPr marL="0" marR="0">
              <a:lnSpc>
                <a:spcPts val="1001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 spc="-17">
                <a:solidFill>
                  <a:srgbClr val="000000"/>
                </a:solidFill>
                <a:latin typeface="MRDOQG+LMSans10-Regular"/>
                <a:cs typeface="MRDOQG+LMSans10-Regular"/>
              </a:rPr>
              <a:t>Packed</a:t>
            </a:r>
            <a:r>
              <a:rPr dirty="0" sz="8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inference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uses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M10K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KMBAWC+LMMono10-Regular"/>
                <a:cs typeface="KMBAWC+LMMono10-Regular"/>
              </a:rPr>
              <a:t>byteena_a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:</a:t>
            </a:r>
            <a:r>
              <a:rPr dirty="0" sz="850" spc="14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</a:p>
          <a:p>
            <a:pPr marL="31793" marR="0">
              <a:lnSpc>
                <a:spcPts val="1001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lane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updates,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other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three</a:t>
            </a:r>
            <a:r>
              <a:rPr dirty="0" sz="8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 spc="-17">
                <a:solidFill>
                  <a:srgbClr val="000000"/>
                </a:solidFill>
                <a:latin typeface="MRDOQG+LMSans10-Regular"/>
                <a:cs typeface="MRDOQG+LMSans10-Regular"/>
              </a:rPr>
              <a:t>are</a:t>
            </a:r>
            <a:r>
              <a:rPr dirty="0" sz="85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50">
                <a:solidFill>
                  <a:srgbClr val="000000"/>
                </a:solidFill>
                <a:latin typeface="MRDOQG+LMSans10-Regular"/>
                <a:cs typeface="MRDOQG+LMSans10-Regular"/>
              </a:rPr>
              <a:t>untouched.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4059554" cy="4196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89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33">
                <a:solidFill>
                  <a:srgbClr val="000000"/>
                </a:solidFill>
                <a:latin typeface="PBIMLA+LMSans10-Bold"/>
                <a:cs typeface="PBIMLA+LMSans10-Bold"/>
              </a:rPr>
              <a:t>VGA</a:t>
            </a:r>
            <a:r>
              <a:rPr dirty="0" sz="1450" spc="8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timing</a:t>
            </a:r>
            <a:r>
              <a:rPr dirty="0" sz="1450" spc="6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640</a:t>
            </a:r>
            <a:r>
              <a:rPr dirty="0" sz="1450" spc="-12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480</a:t>
            </a:r>
            <a:r>
              <a:rPr dirty="0" sz="14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@</a:t>
            </a:r>
            <a:r>
              <a:rPr dirty="0" sz="1450" spc="5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60</a:t>
            </a:r>
            <a:r>
              <a:rPr dirty="0" sz="1450" spc="-20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Hz,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25</a:t>
            </a:r>
            <a:r>
              <a:rPr dirty="0" sz="1450" spc="-20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MHz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dot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52131" y="581021"/>
            <a:ext cx="684227" cy="1629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2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V</a:t>
            </a:r>
            <a:r>
              <a:rPr dirty="0" sz="650" spc="3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0">
                <a:solidFill>
                  <a:srgbClr val="000000"/>
                </a:solidFill>
                <a:latin typeface="MRDOQG+LMSans10-Regular"/>
                <a:cs typeface="MRDOQG+LMSans10-Regular"/>
              </a:rPr>
              <a:t>porch</a:t>
            </a:r>
            <a:r>
              <a:rPr dirty="0" sz="65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650" spc="3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0">
                <a:solidFill>
                  <a:srgbClr val="000000"/>
                </a:solidFill>
                <a:latin typeface="MRDOQG+LMSans10-Regular"/>
                <a:cs typeface="MRDOQG+LMSans10-Regular"/>
              </a:rPr>
              <a:t>sync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61542" y="580450"/>
            <a:ext cx="1093695" cy="1629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2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45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(FP</a:t>
            </a:r>
            <a:r>
              <a:rPr dirty="0" sz="65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10,</a:t>
            </a:r>
            <a:r>
              <a:rPr dirty="0" sz="65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0">
                <a:solidFill>
                  <a:srgbClr val="000000"/>
                </a:solidFill>
                <a:latin typeface="MRDOQG+LMSans10-Regular"/>
                <a:cs typeface="MRDOQG+LMSans10-Regular"/>
              </a:rPr>
              <a:t>sync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2,</a:t>
            </a:r>
            <a:r>
              <a:rPr dirty="0" sz="65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5">
                <a:solidFill>
                  <a:srgbClr val="000000"/>
                </a:solidFill>
                <a:latin typeface="MRDOQG+LMSans10-Regular"/>
                <a:cs typeface="MRDOQG+LMSans10-Regular"/>
              </a:rPr>
              <a:t>BP</a:t>
            </a:r>
            <a:r>
              <a:rPr dirty="0" sz="65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33)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1011" y="1437049"/>
            <a:ext cx="801034" cy="216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5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PBIMLA+LMSans10-Bold"/>
                <a:cs typeface="PBIMLA+LMSans10-Bold"/>
              </a:rPr>
              <a:t>visible</a:t>
            </a:r>
            <a:r>
              <a:rPr dirty="0" sz="650" spc="4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2">
                <a:solidFill>
                  <a:srgbClr val="000000"/>
                </a:solidFill>
                <a:latin typeface="PBIMLA+LMSans10-Bold"/>
                <a:cs typeface="PBIMLA+LMSans10-Bold"/>
              </a:rPr>
              <a:t>640</a:t>
            </a:r>
            <a:r>
              <a:rPr dirty="0" sz="650" spc="3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650" spc="5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2">
                <a:solidFill>
                  <a:srgbClr val="000000"/>
                </a:solidFill>
                <a:latin typeface="PBIMLA+LMSans10-Bold"/>
                <a:cs typeface="PBIMLA+LMSans10-Bold"/>
              </a:rPr>
              <a:t>480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61542" y="1431889"/>
            <a:ext cx="787453" cy="1629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2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V_ACTIVE</a:t>
            </a:r>
            <a:r>
              <a:rPr dirty="0" sz="65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=</a:t>
            </a:r>
            <a:r>
              <a:rPr dirty="0" sz="650" spc="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480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756078" y="2312227"/>
            <a:ext cx="790951" cy="1629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2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H_ACTIVE</a:t>
            </a:r>
            <a:r>
              <a:rPr dirty="0" sz="65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MRDOQG+LMSans10-Regular"/>
                <a:cs typeface="MRDOQG+LMSans10-Regular"/>
              </a:rPr>
              <a:t>=</a:t>
            </a:r>
            <a:r>
              <a:rPr dirty="0" sz="650" spc="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640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84914" y="2315810"/>
            <a:ext cx="1188749" cy="1629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82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160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(FP</a:t>
            </a:r>
            <a:r>
              <a:rPr dirty="0" sz="65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16,</a:t>
            </a:r>
            <a:r>
              <a:rPr dirty="0" sz="65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0">
                <a:solidFill>
                  <a:srgbClr val="000000"/>
                </a:solidFill>
                <a:latin typeface="MRDOQG+LMSans10-Regular"/>
                <a:cs typeface="MRDOQG+LMSans10-Regular"/>
              </a:rPr>
              <a:t>sync</a:t>
            </a:r>
            <a:r>
              <a:rPr dirty="0" sz="65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96,</a:t>
            </a:r>
            <a:r>
              <a:rPr dirty="0" sz="65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5">
                <a:solidFill>
                  <a:srgbClr val="000000"/>
                </a:solidFill>
                <a:latin typeface="MRDOQG+LMSans10-Regular"/>
                <a:cs typeface="MRDOQG+LMSans10-Regular"/>
              </a:rPr>
              <a:t>BP</a:t>
            </a:r>
            <a:r>
              <a:rPr dirty="0" sz="65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 spc="11">
                <a:solidFill>
                  <a:srgbClr val="000000"/>
                </a:solidFill>
                <a:latin typeface="MRDOQG+LMSans10-Regular"/>
                <a:cs typeface="MRDOQG+LMSans10-Regular"/>
              </a:rPr>
              <a:t>48)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0080" y="2544548"/>
            <a:ext cx="4931568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frame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800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525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dot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cycles.</a:t>
            </a:r>
            <a:r>
              <a:rPr dirty="0" sz="1000" spc="1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HBLANK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is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160-cycle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window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29">
                <a:solidFill>
                  <a:srgbClr val="000000"/>
                </a:solidFill>
                <a:latin typeface="MRDOQG+LMSans10-Regular"/>
                <a:cs typeface="MRDOQG+LMSans10-Regular"/>
              </a:rPr>
              <a:t>we</a:t>
            </a:r>
            <a:r>
              <a:rPr dirty="0" sz="1000" spc="4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use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to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evaluate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37194" y="2696377"/>
            <a:ext cx="1637613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sprites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5">
                <a:solidFill>
                  <a:srgbClr val="000000"/>
                </a:solidFill>
                <a:latin typeface="MRDOQG+LMSans10-Regular"/>
                <a:cs typeface="MRDOQG+LMSans10-Regular"/>
              </a:rPr>
              <a:t>for</a:t>
            </a:r>
            <a:r>
              <a:rPr dirty="0" sz="10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next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scanline.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91124" y="3106608"/>
            <a:ext cx="302487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70">
                <a:solidFill>
                  <a:srgbClr val="000000"/>
                </a:solidFill>
                <a:latin typeface="OWJTJR+LMSans8-Regular"/>
                <a:cs typeface="OWJTJR+LMSans8-Regular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860286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Pixel</a:t>
            </a:r>
            <a:r>
              <a:rPr dirty="0" sz="1450" spc="6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pipeline</a:t>
            </a:r>
            <a:r>
              <a:rPr dirty="0" sz="1450" spc="5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4">
                <a:solidFill>
                  <a:srgbClr val="000000"/>
                </a:solidFill>
                <a:latin typeface="PBIMLA+LMSans10-Bold"/>
                <a:cs typeface="PBIMLA+LMSans10-Bold"/>
              </a:rPr>
              <a:t>sprite</a:t>
            </a:r>
            <a:r>
              <a:rPr dirty="0" sz="1450" spc="7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engine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+</a:t>
            </a:r>
            <a:r>
              <a:rPr dirty="0" sz="1450" spc="5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compositor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833" y="981468"/>
            <a:ext cx="883082" cy="2066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sprite_eval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663623" y="988517"/>
            <a:ext cx="949507" cy="2066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sprite_fetch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14053" y="966522"/>
            <a:ext cx="680667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line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bu</a:t>
            </a:r>
            <a:r>
              <a:rPr dirty="0" sz="1000">
                <a:solidFill>
                  <a:srgbClr val="000000"/>
                </a:solidFill>
                <a:latin typeface="UCHHUL+LMSans10-Regular"/>
                <a:cs typeface="UCHHUL+LMSans10-Regular"/>
              </a:rPr>
              <a:t>!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2044" y="981468"/>
            <a:ext cx="816656" cy="2066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compositor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959540" y="1058255"/>
            <a:ext cx="693610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6">
                <a:solidFill>
                  <a:srgbClr val="000000"/>
                </a:solidFill>
                <a:latin typeface="MRDOQG+LMSans10-Regular"/>
                <a:cs typeface="MRDOQG+LMSans10-Regular"/>
              </a:rPr>
              <a:t>VGA</a:t>
            </a:r>
            <a:r>
              <a:rPr dirty="0" sz="1000" spc="2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30">
                <a:solidFill>
                  <a:srgbClr val="000000"/>
                </a:solidFill>
                <a:latin typeface="MRDOQG+LMSans10-Regular"/>
                <a:cs typeface="MRDOQG+LMSans10-Regular"/>
              </a:rPr>
              <a:t>DAC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99719" y="1115836"/>
            <a:ext cx="829308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32-entry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sort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32521" y="1122885"/>
            <a:ext cx="1011783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CLEAR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65374" y="1118351"/>
            <a:ext cx="777939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(ping-pong)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972763" y="1115836"/>
            <a:ext cx="795020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4-stage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pipe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098466" y="1471047"/>
            <a:ext cx="415724" cy="3068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24-bit</a:t>
            </a:r>
          </a:p>
          <a:p>
            <a:pPr marL="25209" marR="0">
              <a:lnSpc>
                <a:spcPts val="94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RGB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94728" y="1525047"/>
            <a:ext cx="639218" cy="251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HKTLMB+LMMathSymbols8-Regular"/>
                <a:cs typeface="HKTLMB+LMMathSymbols8-Regular"/>
              </a:rPr>
              <a:t>→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65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cycles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764957" y="1525047"/>
            <a:ext cx="746775" cy="251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HKTLMB+LMMathSymbols8-Regular"/>
                <a:cs typeface="HKTLMB+LMMathSymbols8-Regular"/>
              </a:rPr>
              <a:t>→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1024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cycles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15018" y="1525047"/>
            <a:ext cx="678563" cy="251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82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640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HKTLMB+LMMathSymbols8-Regular"/>
                <a:cs typeface="HKTLMB+LMMathSymbols8-Regular"/>
              </a:rPr>
              <a:t>↑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8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bit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26128" y="1525047"/>
            <a:ext cx="688665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tile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+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sprite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73290" y="1645253"/>
            <a:ext cx="682288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11">
                <a:solidFill>
                  <a:srgbClr val="000000"/>
                </a:solidFill>
                <a:latin typeface="OWJTJR+LMSans8-Regular"/>
                <a:cs typeface="OWJTJR+LMSans8-Regular"/>
              </a:rPr>
              <a:t>per</a:t>
            </a:r>
            <a:r>
              <a:rPr dirty="0" sz="8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scanline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30984" y="1645253"/>
            <a:ext cx="614936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-13">
                <a:solidFill>
                  <a:srgbClr val="000000"/>
                </a:solidFill>
                <a:latin typeface="OWJTJR+LMSans8-Regular"/>
                <a:cs typeface="OWJTJR+LMSans8-Regular"/>
              </a:rPr>
              <a:t>worst</a:t>
            </a:r>
            <a:r>
              <a:rPr dirty="0" sz="800" spc="4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case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951949" y="1645253"/>
            <a:ext cx="604844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-25">
                <a:solidFill>
                  <a:srgbClr val="000000"/>
                </a:solidFill>
                <a:latin typeface="OWJTJR+LMSans8-Regular"/>
                <a:cs typeface="OWJTJR+LMSans8-Regular"/>
              </a:rPr>
              <a:t>two</a:t>
            </a:r>
            <a:r>
              <a:rPr dirty="0" sz="800" spc="5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banks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960545" y="1645253"/>
            <a:ext cx="819542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+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palette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LUT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15708" y="2013739"/>
            <a:ext cx="4680226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Eval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runs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inside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HBLANK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(160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cycles).</a:t>
            </a:r>
            <a:r>
              <a:rPr dirty="0" sz="1000" spc="1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Fetch</a:t>
            </a:r>
            <a:r>
              <a:rPr dirty="0" sz="10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spans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HBLANK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visible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(800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cycles).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40512" y="2165568"/>
            <a:ext cx="5030320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Line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bu</a:t>
            </a:r>
            <a:r>
              <a:rPr dirty="0" sz="1000">
                <a:solidFill>
                  <a:srgbClr val="000000"/>
                </a:solidFill>
                <a:latin typeface="UCHHUL+LMSans10-Regular"/>
                <a:cs typeface="UCHHUL+LMSans10-Regular"/>
              </a:rPr>
              <a:t>!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ers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4">
                <a:solidFill>
                  <a:srgbClr val="000000"/>
                </a:solidFill>
                <a:latin typeface="MRDOQG+LMSans10-Regular"/>
                <a:cs typeface="MRDOQG+LMSans10-Regular"/>
              </a:rPr>
              <a:t>are</a:t>
            </a:r>
            <a:r>
              <a:rPr dirty="0" sz="10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double-bu</a:t>
            </a:r>
            <a:r>
              <a:rPr dirty="0" sz="1000">
                <a:solidFill>
                  <a:srgbClr val="000000"/>
                </a:solidFill>
                <a:latin typeface="UCHHUL+LMSans10-Regular"/>
                <a:cs typeface="UCHHUL+LMSans10-Regular"/>
              </a:rPr>
              <a:t>!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ered,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so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fetch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lags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read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29">
                <a:solidFill>
                  <a:srgbClr val="000000"/>
                </a:solidFill>
                <a:latin typeface="MRDOQG+LMSans10-Regular"/>
                <a:cs typeface="MRDOQG+LMSans10-Regular"/>
              </a:rPr>
              <a:t>by</a:t>
            </a:r>
            <a:r>
              <a:rPr dirty="0" sz="1000" spc="4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one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scanline.</a:t>
            </a:r>
            <a:r>
              <a:rPr dirty="0" sz="1000" spc="12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Compositor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never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stalls.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10/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552737" cy="300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RJHAVG+LMMonoLt10-Bold"/>
                <a:cs typeface="RJHAVG+LMMonoLt10-Bold"/>
              </a:rPr>
              <a:t>sprite_eval</a:t>
            </a:r>
            <a:r>
              <a:rPr dirty="0" sz="14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per-scanline</a:t>
            </a:r>
            <a:r>
              <a:rPr dirty="0" sz="1450" spc="6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24">
                <a:solidFill>
                  <a:srgbClr val="000000"/>
                </a:solidFill>
                <a:latin typeface="PBIMLA+LMSans10-Bold"/>
                <a:cs typeface="PBIMLA+LMSans10-Bold"/>
              </a:rPr>
              <a:t>priority</a:t>
            </a:r>
            <a:r>
              <a:rPr dirty="0" sz="1450" spc="8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21">
                <a:solidFill>
                  <a:srgbClr val="000000"/>
                </a:solidFill>
                <a:latin typeface="PBIMLA+LMSans10-Bold"/>
                <a:cs typeface="PBIMLA+LMSans10-Bold"/>
              </a:rPr>
              <a:t>sort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80754" y="550716"/>
            <a:ext cx="750814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latch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&amp;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pulse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19032" y="755872"/>
            <a:ext cx="474321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idx</a:t>
            </a:r>
            <a:r>
              <a:rPr dirty="0" sz="800">
                <a:solidFill>
                  <a:srgbClr val="000000"/>
                </a:solidFill>
                <a:latin typeface="LNDUAE+LMMathItalic8-Regular"/>
                <a:cs typeface="LNDUAE+LMMathItalic8-Regular"/>
              </a:rPr>
              <a:t>&lt;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31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6367" y="1349940"/>
            <a:ext cx="675405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eval_strobe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71023" y="1366945"/>
            <a:ext cx="474330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idx=31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16685" y="1432917"/>
            <a:ext cx="422961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IDLE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01913" y="1432917"/>
            <a:ext cx="556470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FETCH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04870" y="1432917"/>
            <a:ext cx="464916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30">
                <a:solidFill>
                  <a:srgbClr val="000000"/>
                </a:solidFill>
                <a:latin typeface="MRDOQG+LMSans10-Regular"/>
                <a:cs typeface="MRDOQG+LMSans10-Regular"/>
              </a:rPr>
              <a:t>EVAL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433150" y="1432917"/>
            <a:ext cx="502064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DONE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44775" y="1565014"/>
            <a:ext cx="622770" cy="1866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ROM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read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37984" y="2037348"/>
            <a:ext cx="3766714" cy="5268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5">
                <a:solidFill>
                  <a:srgbClr val="000000"/>
                </a:solidFill>
                <a:latin typeface="MRDOQG+LMSans10-Regular"/>
                <a:cs typeface="MRDOQG+LMSans10-Regular"/>
              </a:rPr>
              <a:t>Per</a:t>
            </a:r>
            <a:r>
              <a:rPr dirty="0" sz="1000" spc="2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10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(1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cycle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8">
                <a:solidFill>
                  <a:srgbClr val="000000"/>
                </a:solidFill>
                <a:latin typeface="MRDOQG+LMSans10-Regular"/>
                <a:cs typeface="MRDOQG+LMSans10-Regular"/>
              </a:rPr>
              <a:t>EVAL):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intersects</a:t>
            </a:r>
            <a:r>
              <a:rPr dirty="0" sz="1000" spc="20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=</a:t>
            </a:r>
            <a:r>
              <a:rPr dirty="0" sz="1000" spc="20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active</a:t>
            </a:r>
            <a:r>
              <a:rPr dirty="0" sz="1000" spc="20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&amp;&amp;</a:t>
            </a:r>
            <a:r>
              <a:rPr dirty="0" sz="1000" spc="20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y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↓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next_scanline</a:t>
            </a:r>
            <a:r>
              <a:rPr dirty="0" sz="1000" spc="20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AFNHJA+LMMathItalic10-Regular"/>
                <a:cs typeface="AFNHJA+LMMathItalic10-Regular"/>
              </a:rPr>
              <a:t>&lt;</a:t>
            </a:r>
            <a:r>
              <a:rPr dirty="0" sz="1000" spc="20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y+16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insertion-sort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into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priority-ordered</a:t>
            </a:r>
            <a:r>
              <a:rPr dirty="0" sz="10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slots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(all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compares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parallel)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37984" y="2543456"/>
            <a:ext cx="4435767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8">
                <a:solidFill>
                  <a:srgbClr val="000000"/>
                </a:solidFill>
                <a:latin typeface="MRDOQG+LMSans10-Regular"/>
                <a:cs typeface="MRDOQG+LMSans10-Regular"/>
              </a:rPr>
              <a:t>Total:</a:t>
            </a:r>
            <a:r>
              <a:rPr dirty="0" sz="1000" spc="2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100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fetch+eval</a:t>
            </a:r>
            <a:r>
              <a:rPr dirty="0" sz="100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cycles</a:t>
            </a:r>
            <a:r>
              <a:rPr dirty="0" sz="1000" spc="6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100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</a:t>
            </a:r>
            <a:r>
              <a:rPr dirty="0" sz="100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DONE</a:t>
            </a:r>
            <a:r>
              <a:rPr dirty="0" sz="100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=</a:t>
            </a:r>
            <a:r>
              <a:rPr dirty="0" sz="100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↔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65</a:t>
            </a:r>
            <a:r>
              <a:rPr dirty="0" sz="100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cycles.</a:t>
            </a:r>
            <a:r>
              <a:rPr dirty="0" sz="1000" spc="67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Fits</a:t>
            </a:r>
            <a:r>
              <a:rPr dirty="0" sz="100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easily</a:t>
            </a:r>
            <a:r>
              <a:rPr dirty="0" sz="100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</a:t>
            </a:r>
            <a:r>
              <a:rPr dirty="0" sz="100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160-cycle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7984" y="2695285"/>
            <a:ext cx="691624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HBLANK.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11/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904377" cy="3008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RJHAVG+LMMonoLt10-Bold"/>
                <a:cs typeface="RJHAVG+LMMonoLt10-Bold"/>
              </a:rPr>
              <a:t>sprite_fetch</a:t>
            </a:r>
            <a:r>
              <a:rPr dirty="0" sz="14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1">
                <a:solidFill>
                  <a:srgbClr val="000000"/>
                </a:solidFill>
                <a:latin typeface="PBIMLA+LMSans10-Bold"/>
                <a:cs typeface="PBIMLA+LMSans10-Bold"/>
              </a:rPr>
              <a:t>ROM</a:t>
            </a:r>
            <a:r>
              <a:rPr dirty="0" sz="1450" spc="6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read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+</a:t>
            </a:r>
            <a:r>
              <a:rPr dirty="0" sz="1450" spc="5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line-bu</a:t>
            </a:r>
            <a:r>
              <a:rPr dirty="0" sz="1450">
                <a:solidFill>
                  <a:srgbClr val="000000"/>
                </a:solidFill>
                <a:latin typeface="OVPJTT+LMSans10-Bold"/>
                <a:cs typeface="OVPJTT+LMSans10-Bold"/>
              </a:rPr>
              <a:t>!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er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ﬁll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07450" y="507517"/>
            <a:ext cx="404925" cy="1569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all</a:t>
            </a:r>
            <a:r>
              <a:rPr dirty="0" sz="65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done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97430" y="1020889"/>
            <a:ext cx="361004" cy="1569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hblank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91600" y="1007287"/>
            <a:ext cx="905926" cy="1918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CLEAR</a:t>
            </a:r>
            <a:r>
              <a:rPr dirty="0" sz="800" spc="47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eval_done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75752" y="1073677"/>
            <a:ext cx="368848" cy="1861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IDLE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177387" y="1073677"/>
            <a:ext cx="421513" cy="1861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PROC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350640" y="1134408"/>
            <a:ext cx="347086" cy="1861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BUF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14791" y="1588954"/>
            <a:ext cx="418750" cy="307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READ</a:t>
            </a:r>
          </a:p>
          <a:p>
            <a:pPr marL="53065" marR="0">
              <a:lnSpc>
                <a:spcPts val="95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PIX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186176" y="1588954"/>
            <a:ext cx="412231" cy="307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-24">
                <a:solidFill>
                  <a:srgbClr val="000000"/>
                </a:solidFill>
                <a:latin typeface="MRDOQG+LMSans10-Regular"/>
                <a:cs typeface="MRDOQG+LMSans10-Regular"/>
              </a:rPr>
              <a:t>WAIT</a:t>
            </a:r>
          </a:p>
          <a:p>
            <a:pPr marL="45689" marR="0">
              <a:lnSpc>
                <a:spcPts val="95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PIX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16794" y="1588954"/>
            <a:ext cx="470696" cy="307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WRITE</a:t>
            </a:r>
          </a:p>
          <a:p>
            <a:pPr marL="79075" marR="0">
              <a:lnSpc>
                <a:spcPts val="95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MRDOQG+LMSans10-Regular"/>
                <a:cs typeface="MRDOQG+LMSans10-Regular"/>
              </a:rPr>
              <a:t>PIX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213404" y="2293074"/>
            <a:ext cx="321188" cy="1569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u</a:t>
            </a:r>
            <a:r>
              <a:rPr dirty="0" sz="650" spc="-10">
                <a:solidFill>
                  <a:srgbClr val="000000"/>
                </a:solidFill>
                <a:latin typeface="LNDUAE+LMMathItalic8-Regular"/>
                <a:cs typeface="LNDUAE+LMMathItalic8-Regular"/>
              </a:rPr>
              <a:t>&lt;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16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4223" y="2474186"/>
            <a:ext cx="5183869" cy="4836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PBIMLA+LMSans10-Bold"/>
                <a:cs typeface="PBIMLA+LMSans10-Bold"/>
              </a:rPr>
              <a:t>Worst-case</a:t>
            </a:r>
            <a:r>
              <a:rPr dirty="0" sz="900" spc="4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PBIMLA+LMSans10-Bold"/>
                <a:cs typeface="PBIMLA+LMSans10-Bold"/>
              </a:rPr>
              <a:t>cycle</a:t>
            </a:r>
            <a:r>
              <a:rPr dirty="0" sz="900" spc="4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PBIMLA+LMSans10-Bold"/>
                <a:cs typeface="PBIMLA+LMSans10-Bold"/>
              </a:rPr>
              <a:t>budget</a:t>
            </a:r>
            <a:r>
              <a:rPr dirty="0" sz="900" spc="4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 spc="12">
                <a:solidFill>
                  <a:srgbClr val="000000"/>
                </a:solidFill>
                <a:latin typeface="PBIMLA+LMSans10-Bold"/>
                <a:cs typeface="PBIMLA+LMSans10-Bold"/>
              </a:rPr>
              <a:t>per</a:t>
            </a:r>
            <a:r>
              <a:rPr dirty="0" sz="900" spc="3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PBIMLA+LMSans10-Bold"/>
                <a:cs typeface="PBIMLA+LMSans10-Bold"/>
              </a:rPr>
              <a:t>scanline:</a:t>
            </a:r>
            <a:r>
              <a:rPr dirty="0" sz="900" spc="6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CLEAR_BUF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(640)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+</a:t>
            </a:r>
            <a:r>
              <a:rPr dirty="0" sz="9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8</a:t>
            </a:r>
            <a:r>
              <a:rPr dirty="0" sz="9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sprites</a:t>
            </a:r>
            <a:r>
              <a:rPr dirty="0" sz="9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EQAWH+LMMathSymbols9-Regular"/>
                <a:cs typeface="MEQAWH+LMMathSymbols9-Regular"/>
              </a:rPr>
              <a:t>→</a:t>
            </a:r>
            <a:r>
              <a:rPr dirty="0" sz="9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48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(384)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OGQHSE+LMSans9-Regular"/>
                <a:cs typeface="OGQHSE+LMSans9-Regular"/>
              </a:rPr>
              <a:t>=</a:t>
            </a:r>
            <a:r>
              <a:rPr dirty="0" sz="900">
                <a:solidFill>
                  <a:srgbClr val="000000"/>
                </a:solidFill>
                <a:latin typeface="MEQAWH+LMMathSymbols9-Regular"/>
                <a:cs typeface="MEQAWH+LMMathSymbols9-Regular"/>
              </a:rPr>
              <a:t>↑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1024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cycles.</a:t>
            </a:r>
          </a:p>
          <a:p>
            <a:pPr marL="172377" marR="0">
              <a:lnSpc>
                <a:spcPts val="1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HBLANK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alone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is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160;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HBLANK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+</a:t>
            </a:r>
            <a:r>
              <a:rPr dirty="0" sz="9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visible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is</a:t>
            </a:r>
            <a:r>
              <a:rPr dirty="0" sz="9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PBIMLA+LMSans10-Bold"/>
                <a:cs typeface="PBIMLA+LMSans10-Bold"/>
              </a:rPr>
              <a:t>800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.</a:t>
            </a:r>
            <a:r>
              <a:rPr dirty="0" sz="900" spc="63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Fetch</a:t>
            </a:r>
            <a:r>
              <a:rPr dirty="0" sz="9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lives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one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line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behind</a:t>
            </a:r>
            <a:r>
              <a:rPr dirty="0" sz="9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the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read,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so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the</a:t>
            </a:r>
          </a:p>
          <a:p>
            <a:pPr marL="1507477" marR="0">
              <a:lnSpc>
                <a:spcPts val="1095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ping-pong</a:t>
            </a:r>
            <a:r>
              <a:rPr dirty="0" sz="9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line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bu</a:t>
            </a:r>
            <a:r>
              <a:rPr dirty="0" sz="900">
                <a:solidFill>
                  <a:srgbClr val="000000"/>
                </a:solidFill>
                <a:latin typeface="DAEJWH+LMSans9-Regular"/>
                <a:cs typeface="DAEJWH+LMSans9-Regular"/>
              </a:rPr>
              <a:t>!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ers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absorb</a:t>
            </a:r>
            <a:r>
              <a:rPr dirty="0" sz="9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SMDPJG+LMSans9-Regular"/>
                <a:cs typeface="SMDPJG+LMSans9-Regular"/>
              </a:rPr>
              <a:t>the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 spc="-12">
                <a:solidFill>
                  <a:srgbClr val="000000"/>
                </a:solidFill>
                <a:latin typeface="SMDPJG+LMSans9-Regular"/>
                <a:cs typeface="SMDPJG+LMSans9-Regular"/>
              </a:rPr>
              <a:t>latency.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12/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2751983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Compositor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4-stage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pipeline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4004" y="829964"/>
            <a:ext cx="285543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80283" y="829964"/>
            <a:ext cx="285544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46574" y="829964"/>
            <a:ext cx="285543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S3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12853" y="905655"/>
            <a:ext cx="285543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8011" y="981347"/>
            <a:ext cx="517520" cy="3740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259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region</a:t>
            </a:r>
          </a:p>
          <a:p>
            <a:pPr marL="0" marR="0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decode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97031" y="981347"/>
            <a:ext cx="651925" cy="3740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52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ROM</a:t>
            </a:r>
          </a:p>
          <a:p>
            <a:pPr marL="0" marR="0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addr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mux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333569" y="981347"/>
            <a:ext cx="511428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palette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46682" y="1057025"/>
            <a:ext cx="617867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RGB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out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42988" y="1132717"/>
            <a:ext cx="692834" cy="2226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index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mux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12341" y="1554405"/>
            <a:ext cx="888773" cy="4259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HUD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predicates,</a:t>
            </a:r>
          </a:p>
          <a:p>
            <a:pPr marL="81870" marR="0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HUD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tile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ID,</a:t>
            </a:r>
          </a:p>
          <a:p>
            <a:pPr marL="142228" marR="0">
              <a:lnSpc>
                <a:spcPts val="943"/>
              </a:lnSpc>
              <a:spcBef>
                <a:spcPts val="5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BCD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digit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66808" y="1554405"/>
            <a:ext cx="712556" cy="186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bg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tile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ROM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167866" y="1554405"/>
            <a:ext cx="842958" cy="186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sprite</a:t>
            </a:r>
            <a:r>
              <a:rPr dirty="0" sz="800" spc="3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 spc="-27">
                <a:solidFill>
                  <a:srgbClr val="000000"/>
                </a:solidFill>
                <a:latin typeface="OWJTJR+LMSans8-Regular"/>
                <a:cs typeface="OWJTJR+LMSans8-Regular"/>
              </a:rPr>
              <a:t>px</a:t>
            </a:r>
            <a:r>
              <a:rPr dirty="0" sz="800" spc="5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if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=</a:t>
            </a:r>
            <a:r>
              <a:rPr dirty="0" sz="800" spc="9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545795" y="1554405"/>
            <a:ext cx="619534" cy="186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HUD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 spc="-14">
                <a:solidFill>
                  <a:srgbClr val="000000"/>
                </a:solidFill>
                <a:latin typeface="OWJTJR+LMSans8-Regular"/>
                <a:cs typeface="OWJTJR+LMSans8-Regular"/>
              </a:rPr>
              <a:t>layer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34482" y="1674247"/>
            <a:ext cx="777061" cy="186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 spc="-26">
                <a:solidFill>
                  <a:srgbClr val="000000"/>
                </a:solidFill>
                <a:latin typeface="OWJTJR+LMSans8-Regular"/>
                <a:cs typeface="OWJTJR+LMSans8-Regular"/>
              </a:rPr>
              <a:t>or</a:t>
            </a:r>
            <a:r>
              <a:rPr dirty="0" sz="800" spc="5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HUD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glyph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76744" y="1674247"/>
            <a:ext cx="624962" cy="186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else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tile</a:t>
            </a:r>
            <a:r>
              <a:rPr dirty="0" sz="8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 spc="-26">
                <a:solidFill>
                  <a:srgbClr val="000000"/>
                </a:solidFill>
                <a:latin typeface="OWJTJR+LMSans8-Regular"/>
                <a:cs typeface="OWJTJR+LMSans8-Regular"/>
              </a:rPr>
              <a:t>px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517724" y="1674247"/>
            <a:ext cx="675904" cy="186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wins</a:t>
            </a:r>
            <a:r>
              <a:rPr dirty="0" sz="8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on</a:t>
            </a:r>
            <a:r>
              <a:rPr dirty="0" sz="8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800">
                <a:solidFill>
                  <a:srgbClr val="000000"/>
                </a:solidFill>
                <a:latin typeface="OWJTJR+LMSans8-Regular"/>
                <a:cs typeface="OWJTJR+LMSans8-Regular"/>
              </a:rPr>
              <a:t>top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59994" y="2126007"/>
            <a:ext cx="5191386" cy="375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Latches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between</a:t>
            </a:r>
            <a:r>
              <a:rPr dirty="0" sz="100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stages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absorb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the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1-cycle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latency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of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ROM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and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palette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M10K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reads.</a:t>
            </a:r>
            <a:r>
              <a:rPr dirty="0" sz="1000" spc="12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Never</a:t>
            </a:r>
          </a:p>
          <a:p>
            <a:pPr marL="2370455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stalls.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13/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689021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1">
                <a:solidFill>
                  <a:srgbClr val="000000"/>
                </a:solidFill>
                <a:latin typeface="PBIMLA+LMSans10-Bold"/>
                <a:cs typeface="PBIMLA+LMSans10-Bold"/>
              </a:rPr>
              <a:t>HUD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strip</a:t>
            </a:r>
            <a:r>
              <a:rPr dirty="0" sz="1450" spc="6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top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16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pixels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of</a:t>
            </a:r>
            <a:r>
              <a:rPr dirty="0" sz="1450" spc="6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every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frame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52051" y="1018158"/>
            <a:ext cx="779712" cy="1614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640</a:t>
            </a:r>
            <a:r>
              <a:rPr dirty="0" sz="65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px,</a:t>
            </a:r>
            <a:r>
              <a:rPr dirty="0" sz="650" spc="3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NOVGAF+LMSans8-Oblique"/>
                <a:cs typeface="NOVGAF+LMSans8-Oblique"/>
              </a:rPr>
              <a:t>y</a:t>
            </a:r>
            <a:r>
              <a:rPr dirty="0" sz="6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=</a:t>
            </a:r>
            <a:r>
              <a:rPr dirty="0" sz="6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0</a:t>
            </a:r>
            <a:r>
              <a:rPr dirty="0" sz="650">
                <a:solidFill>
                  <a:srgbClr val="000000"/>
                </a:solidFill>
                <a:latin typeface="LNDUAE+LMMathItalic8-Regular"/>
                <a:cs typeface="LNDUAE+LMMathItalic8-Regular"/>
              </a:rPr>
              <a:t>..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15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9383" y="1327932"/>
            <a:ext cx="656570" cy="1583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47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ffffff"/>
                </a:solidFill>
                <a:latin typeface="PBIMLA+LMSans10-Bold"/>
                <a:cs typeface="PBIMLA+LMSans10-Bold"/>
              </a:rPr>
              <a:t>HP</a:t>
            </a:r>
            <a:r>
              <a:rPr dirty="0" sz="650" spc="3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ffffff"/>
                </a:solidFill>
                <a:latin typeface="PBIMLA+LMSans10-Bold"/>
                <a:cs typeface="PBIMLA+LMSans10-Bold"/>
              </a:rPr>
              <a:t>bar</a:t>
            </a:r>
            <a:r>
              <a:rPr dirty="0" sz="650" spc="45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ffffff"/>
                </a:solidFill>
                <a:latin typeface="PBIMLA+LMSans10-Bold"/>
                <a:cs typeface="PBIMLA+LMSans10-Bold"/>
              </a:rPr>
              <a:t>192px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07130" y="1334412"/>
            <a:ext cx="524266" cy="1614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0">
                <a:solidFill>
                  <a:srgbClr val="000000"/>
                </a:solidFill>
                <a:latin typeface="OWJTJR+LMSans8-Regular"/>
                <a:cs typeface="OWJTJR+LMSans8-Regular"/>
              </a:rPr>
              <a:t>AMMO</a:t>
            </a:r>
            <a:r>
              <a:rPr dirty="0" sz="65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99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25901" y="1334412"/>
            <a:ext cx="482532" cy="1614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-36">
                <a:solidFill>
                  <a:srgbClr val="000000"/>
                </a:solidFill>
                <a:latin typeface="OWJTJR+LMSans8-Regular"/>
                <a:cs typeface="OWJTJR+LMSans8-Regular"/>
              </a:rPr>
              <a:t>WAVE</a:t>
            </a:r>
            <a:r>
              <a:rPr dirty="0" sz="650" spc="7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05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02048" y="1334412"/>
            <a:ext cx="730480" cy="1614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ART</a:t>
            </a:r>
            <a:r>
              <a:rPr dirty="0" sz="65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2</a:t>
            </a:r>
            <a:r>
              <a:rPr dirty="0" sz="650" spc="67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GAS</a:t>
            </a:r>
            <a:r>
              <a:rPr dirty="0" sz="65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23078" y="1334412"/>
            <a:ext cx="705406" cy="1614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SCORE</a:t>
            </a:r>
            <a:r>
              <a:rPr dirty="0" sz="65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50">
                <a:solidFill>
                  <a:srgbClr val="000000"/>
                </a:solidFill>
                <a:latin typeface="OWJTJR+LMSans8-Regular"/>
                <a:cs typeface="OWJTJR+LMSans8-Regular"/>
              </a:rPr>
              <a:t>000800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15112" y="1805929"/>
            <a:ext cx="4881867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HP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bar:</a:t>
            </a:r>
            <a:r>
              <a:rPr dirty="0" sz="1000" spc="13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29">
                <a:solidFill>
                  <a:srgbClr val="000000"/>
                </a:solidFill>
                <a:latin typeface="MRDOQG+LMSans10-Regular"/>
                <a:cs typeface="MRDOQG+LMSans10-Regular"/>
              </a:rPr>
              <a:t>px</a:t>
            </a:r>
            <a:r>
              <a:rPr dirty="0" sz="1000" spc="4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12">
                <a:solidFill>
                  <a:srgbClr val="000000"/>
                </a:solidFill>
                <a:latin typeface="MRDOQG+LMSans10-Regular"/>
                <a:cs typeface="MRDOQG+LMSans10-Regular"/>
              </a:rPr>
              <a:t>per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44">
                <a:solidFill>
                  <a:srgbClr val="000000"/>
                </a:solidFill>
                <a:latin typeface="MRDOQG+LMSans10-Regular"/>
                <a:cs typeface="MRDOQG+LMSans10-Regular"/>
              </a:rPr>
              <a:t>HP,</a:t>
            </a:r>
            <a:r>
              <a:rPr dirty="0" sz="1000" spc="5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clamped</a:t>
            </a:r>
            <a:r>
              <a:rPr dirty="0" sz="1000" spc="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to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192.</a:t>
            </a:r>
            <a:r>
              <a:rPr dirty="0" sz="1000" spc="67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Glyphs:</a:t>
            </a:r>
            <a:r>
              <a:rPr dirty="0" sz="1000" spc="1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from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ROM,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slots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16–41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(A–Z),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62926" y="1957757"/>
            <a:ext cx="3385746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48–57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(0–9).</a:t>
            </a:r>
            <a:r>
              <a:rPr dirty="0" sz="1000" spc="67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Scores,</a:t>
            </a:r>
            <a:r>
              <a:rPr dirty="0" sz="10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ammo,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wave</a:t>
            </a:r>
            <a:r>
              <a:rPr dirty="0" sz="1000" spc="2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packed</a:t>
            </a:r>
            <a:r>
              <a:rPr dirty="0" sz="10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BCD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in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registers.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14/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60019" y="1184597"/>
            <a:ext cx="5040061" cy="844291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000" y="44124"/>
            <a:ext cx="2162941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1">
                <a:solidFill>
                  <a:srgbClr val="000000"/>
                </a:solidFill>
                <a:latin typeface="PBIMLA+LMSans10-Bold"/>
                <a:cs typeface="PBIMLA+LMSans10-Bold"/>
              </a:rPr>
              <a:t>HUD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on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the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5">
                <a:solidFill>
                  <a:srgbClr val="000000"/>
                </a:solidFill>
                <a:latin typeface="PBIMLA+LMSans10-Bold"/>
                <a:cs typeface="PBIMLA+LMSans10-Bold"/>
              </a:rPr>
              <a:t>monitor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3361249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8">
                <a:solidFill>
                  <a:srgbClr val="000000"/>
                </a:solidFill>
                <a:latin typeface="PBIMLA+LMSans10-Bold"/>
                <a:cs typeface="PBIMLA+LMSans10-Bold"/>
              </a:rPr>
              <a:t>Memory</a:t>
            </a:r>
            <a:r>
              <a:rPr dirty="0" sz="1450" spc="7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2">
                <a:solidFill>
                  <a:srgbClr val="000000"/>
                </a:solidFill>
                <a:latin typeface="PBIMLA+LMSans10-Bold"/>
                <a:cs typeface="PBIMLA+LMSans10-Bold"/>
              </a:rPr>
              <a:t>inventory</a:t>
            </a:r>
            <a:r>
              <a:rPr dirty="0" sz="1450" spc="6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(all</a:t>
            </a:r>
            <a:r>
              <a:rPr dirty="0" sz="1450" spc="6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inferred</a:t>
            </a:r>
            <a:r>
              <a:rPr dirty="0" sz="1450" spc="6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M10K)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914" y="593781"/>
            <a:ext cx="630158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Memory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30528" y="593781"/>
            <a:ext cx="506670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Shape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34232" y="593781"/>
            <a:ext cx="348766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Init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25564" y="593781"/>
            <a:ext cx="381916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Bits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35914" y="841948"/>
            <a:ext cx="765793" cy="7606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10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ROM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ROM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tile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map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palette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30528" y="841948"/>
            <a:ext cx="749940" cy="4847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16,384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4,096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34220" y="859409"/>
            <a:ext cx="750331" cy="3857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0" marR="0">
              <a:lnSpc>
                <a:spcPts val="132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$readmemh</a:t>
            </a:r>
          </a:p>
          <a:p>
            <a:pPr marL="0" marR="0">
              <a:lnSpc>
                <a:spcPts val="1327"/>
              </a:lnSpc>
              <a:spcBef>
                <a:spcPts val="83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$readmemh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940547" y="841948"/>
            <a:ext cx="567174" cy="1119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131,072</a:t>
            </a:r>
          </a:p>
          <a:p>
            <a:pPr marL="63287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32,768</a:t>
            </a:r>
          </a:p>
          <a:p>
            <a:pPr marL="62933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38,400</a:t>
            </a:r>
          </a:p>
          <a:p>
            <a:pPr marL="126322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6,144</a:t>
            </a:r>
          </a:p>
          <a:p>
            <a:pPr marL="126385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2,048</a:t>
            </a:r>
          </a:p>
          <a:p>
            <a:pPr marL="126334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2,048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30401" y="1200266"/>
            <a:ext cx="2773252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1,200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(packed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8)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blank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(HPS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writes)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30528" y="1379425"/>
            <a:ext cx="651427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256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24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034244" y="1379425"/>
            <a:ext cx="1680317" cy="2240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$readmemh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HPS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overrides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35914" y="1558584"/>
            <a:ext cx="1582841" cy="48473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10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table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act.</a:t>
            </a:r>
            <a:r>
              <a:rPr dirty="0" sz="1000" spc="100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64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1000" spc="1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table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shd.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64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034182" y="1558584"/>
            <a:ext cx="1300108" cy="76068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via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VSYNC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bulk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copy</a:t>
            </a:r>
          </a:p>
          <a:p>
            <a:pPr marL="75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HPS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writes</a:t>
            </a:r>
          </a:p>
          <a:p>
            <a:pPr marL="101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cleared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12">
                <a:solidFill>
                  <a:srgbClr val="000000"/>
                </a:solidFill>
                <a:latin typeface="MRDOQG+LMSans10-Regular"/>
                <a:cs typeface="MRDOQG+LMSans10-Regular"/>
              </a:rPr>
              <a:t>per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HBLANK</a:t>
            </a:r>
          </a:p>
          <a:p>
            <a:pPr marL="101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cleared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12">
                <a:solidFill>
                  <a:srgbClr val="000000"/>
                </a:solidFill>
                <a:latin typeface="MRDOQG+LMSans10-Regular"/>
                <a:cs typeface="MRDOQG+LMSans10-Regular"/>
              </a:rPr>
              <a:t>per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HBLANK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5914" y="1916901"/>
            <a:ext cx="806914" cy="402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line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bu</a:t>
            </a:r>
            <a:r>
              <a:rPr dirty="0" sz="1000">
                <a:solidFill>
                  <a:srgbClr val="000000"/>
                </a:solidFill>
                <a:latin typeface="UCHHUL+LMSans10-Regular"/>
                <a:cs typeface="UCHHUL+LMSans10-Regular"/>
              </a:rPr>
              <a:t>!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er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line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bu</a:t>
            </a:r>
            <a:r>
              <a:rPr dirty="0" sz="1000">
                <a:solidFill>
                  <a:srgbClr val="000000"/>
                </a:solidFill>
                <a:latin typeface="UCHHUL+LMSans10-Regular"/>
                <a:cs typeface="UCHHUL+LMSans10-Regular"/>
              </a:rPr>
              <a:t>!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er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430401" y="1916901"/>
            <a:ext cx="588329" cy="4847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640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640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066655" y="1916901"/>
            <a:ext cx="440623" cy="4023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5,120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5,120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35914" y="2349276"/>
            <a:ext cx="464537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25">
                <a:solidFill>
                  <a:srgbClr val="000000"/>
                </a:solidFill>
                <a:latin typeface="PBIMLA+LMSans10-Bold"/>
                <a:cs typeface="PBIMLA+LMSans10-Bold"/>
              </a:rPr>
              <a:t>Total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714231" y="2349276"/>
            <a:ext cx="793249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86,144</a:t>
            </a:r>
            <a:r>
              <a:rPr dirty="0" sz="1000" spc="4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bits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133676" y="2680654"/>
            <a:ext cx="1644762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14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M10K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blocks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out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of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397.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16/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4440765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Resource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utilisation</a:t>
            </a:r>
            <a:r>
              <a:rPr dirty="0" sz="1450" spc="6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Cyclone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V</a:t>
            </a:r>
            <a:r>
              <a:rPr dirty="0" sz="1450" spc="5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5CSEMA5F31C6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59915" y="808195"/>
            <a:ext cx="673556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Resource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69747" y="808195"/>
            <a:ext cx="1107789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Used</a:t>
            </a:r>
            <a:r>
              <a:rPr dirty="0" sz="1000" spc="87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Available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70171" y="808195"/>
            <a:ext cx="282594" cy="2191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PBIMLA+LMSans10-Bold"/>
                <a:cs typeface="PBIMLA+LMSans10-Bold"/>
              </a:rPr>
              <a:t>%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59915" y="1056362"/>
            <a:ext cx="625856" cy="581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ALMs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Registers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Pins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865401" y="1056362"/>
            <a:ext cx="342440" cy="581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52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205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365</a:t>
            </a:r>
          </a:p>
          <a:p>
            <a:pPr marL="63515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54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373525" y="1056362"/>
            <a:ext cx="978900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32,070</a:t>
            </a:r>
            <a:r>
              <a:rPr dirty="0" sz="1000" spc="87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AFNHJA+LMMathItalic10-Regular"/>
                <a:cs typeface="AFNHJA+LMMathItalic10-Regular"/>
              </a:rPr>
              <a:t>&lt;</a:t>
            </a:r>
            <a:r>
              <a:rPr dirty="0" sz="1000" spc="12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%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598233" y="1235521"/>
            <a:ext cx="278925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—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68193" y="1235521"/>
            <a:ext cx="384320" cy="581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5268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—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12%</a:t>
            </a:r>
          </a:p>
          <a:p>
            <a:pPr marL="63009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2%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535097" y="1414680"/>
            <a:ext cx="342187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457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559915" y="1593839"/>
            <a:ext cx="2317116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Block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memory</a:t>
            </a:r>
            <a:r>
              <a:rPr dirty="0" sz="10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bits</a:t>
            </a:r>
            <a:r>
              <a:rPr dirty="0" sz="1000" spc="87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86,144</a:t>
            </a:r>
            <a:r>
              <a:rPr dirty="0" sz="1000" spc="9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4,065,280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59915" y="1772998"/>
            <a:ext cx="848540" cy="402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M10K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blocks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DSP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blocks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928789" y="1772998"/>
            <a:ext cx="278925" cy="402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14</a:t>
            </a:r>
          </a:p>
          <a:p>
            <a:pPr marL="63262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534971" y="1772998"/>
            <a:ext cx="342187" cy="402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397</a:t>
            </a:r>
          </a:p>
          <a:p>
            <a:pPr marL="63262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87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031202" y="1772998"/>
            <a:ext cx="321184" cy="4023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6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4%</a:t>
            </a:r>
          </a:p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0%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65238" y="2327391"/>
            <a:ext cx="4180703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Compile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time:</a:t>
            </a:r>
            <a:r>
              <a:rPr dirty="0" sz="1000" spc="1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54">
                <a:solidFill>
                  <a:srgbClr val="000000"/>
                </a:solidFill>
                <a:latin typeface="MRDOQG+LMSans10-Regular"/>
                <a:cs typeface="MRDOQG+LMSans10-Regular"/>
              </a:rPr>
              <a:t>63s</a:t>
            </a:r>
            <a:r>
              <a:rPr dirty="0" sz="1000" spc="-4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wall</a:t>
            </a:r>
            <a:r>
              <a:rPr dirty="0" sz="1000" spc="2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clock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(Analysis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13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Fitter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30</a:t>
            </a:r>
            <a:r>
              <a:rPr dirty="0" sz="1000" spc="-15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Asm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12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43">
                <a:solidFill>
                  <a:srgbClr val="000000"/>
                </a:solidFill>
                <a:latin typeface="MRDOQG+LMSans10-Regular"/>
                <a:cs typeface="MRDOQG+LMSans10-Regular"/>
              </a:rPr>
              <a:t>STA</a:t>
            </a:r>
            <a:r>
              <a:rPr dirty="0" sz="1000" spc="5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8</a:t>
            </a:r>
            <a:r>
              <a:rPr dirty="0" sz="1000" spc="-15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s).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17/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8000" y="44124"/>
            <a:ext cx="4775642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26">
                <a:solidFill>
                  <a:srgbClr val="000000"/>
                </a:solidFill>
                <a:latin typeface="PBIMLA+LMSans10-Bold"/>
                <a:cs typeface="PBIMLA+LMSans10-Bold"/>
              </a:rPr>
              <a:t>Software</a:t>
            </a:r>
            <a:r>
              <a:rPr dirty="0" sz="1450" spc="8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1">
                <a:solidFill>
                  <a:srgbClr val="000000"/>
                </a:solidFill>
                <a:latin typeface="PBIMLA+LMSans10-Bold"/>
                <a:cs typeface="PBIMLA+LMSans10-Bold"/>
              </a:rPr>
              <a:t>architecture</a:t>
            </a:r>
            <a:r>
              <a:rPr dirty="0" sz="1450" spc="6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—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60</a:t>
            </a:r>
            <a:r>
              <a:rPr dirty="0" sz="1450" spc="-20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Hz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game</a:t>
            </a:r>
            <a:r>
              <a:rPr dirty="0" sz="1450" spc="6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loop</a:t>
            </a:r>
            <a:r>
              <a:rPr dirty="0" sz="1450" spc="49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on</a:t>
            </a:r>
            <a:r>
              <a:rPr dirty="0" sz="1450" spc="6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the</a:t>
            </a:r>
            <a:r>
              <a:rPr dirty="0" sz="1450" spc="6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ARM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19693" y="848760"/>
            <a:ext cx="694632" cy="1909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KMBAWC+LMMono10-Regular"/>
                <a:cs typeface="KMBAWC+LMMono10-Regular"/>
              </a:rPr>
              <a:t>game_tick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861" y="906458"/>
            <a:ext cx="754880" cy="1909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KMBAWC+LMMono10-Regular"/>
                <a:cs typeface="KMBAWC+LMMono10-Regular"/>
              </a:rPr>
              <a:t>input_read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90785" y="906458"/>
            <a:ext cx="875376" cy="1909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KMBAWC+LMMono10-Regular"/>
                <a:cs typeface="KMBAWC+LMMono10-Regular"/>
              </a:rPr>
              <a:t>render_frame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265839" y="906458"/>
            <a:ext cx="1116368" cy="19095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KMBAWC+LMMono10-Regular"/>
                <a:cs typeface="KMBAWC+LMMono10-Regular"/>
              </a:rPr>
              <a:t>nml_commit_frame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12194" y="970632"/>
            <a:ext cx="709436" cy="2059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AI,</a:t>
            </a:r>
            <a:r>
              <a:rPr dirty="0" sz="9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collision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8061" y="1028330"/>
            <a:ext cx="632203" cy="2059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evdev</a:t>
            </a:r>
            <a:r>
              <a:rPr dirty="0" sz="9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MRDOQG+LMSans10-Regular"/>
                <a:cs typeface="MRDOQG+LMSans10-Regular"/>
              </a:rPr>
              <a:t>poll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955622" y="1028330"/>
            <a:ext cx="1145563" cy="2806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7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entity</a:t>
            </a:r>
            <a:r>
              <a:rPr dirty="0" sz="900" spc="2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↑</a:t>
            </a:r>
            <a:r>
              <a:rPr dirty="0" sz="9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sprite</a:t>
            </a:r>
            <a:r>
              <a:rPr dirty="0" sz="900" spc="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table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386650" y="1028330"/>
            <a:ext cx="874573" cy="2059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set</a:t>
            </a:r>
            <a:r>
              <a:rPr dirty="0" sz="9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 spc="-34">
                <a:solidFill>
                  <a:srgbClr val="000000"/>
                </a:solidFill>
                <a:latin typeface="MRDOQG+LMSans10-Regular"/>
                <a:cs typeface="MRDOQG+LMSans10-Regular"/>
              </a:rPr>
              <a:t>SWAP,</a:t>
            </a:r>
            <a:r>
              <a:rPr dirty="0" sz="900" spc="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 spc="10">
                <a:solidFill>
                  <a:srgbClr val="000000"/>
                </a:solidFill>
                <a:latin typeface="MRDOQG+LMSans10-Regular"/>
                <a:cs typeface="MRDOQG+LMSans10-Regular"/>
              </a:rPr>
              <a:t>poll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841595" y="1108352"/>
            <a:ext cx="850703" cy="2059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autoatk</a:t>
            </a:r>
            <a:r>
              <a:rPr dirty="0" sz="9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timers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92724" y="1685783"/>
            <a:ext cx="1148500" cy="20679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000000"/>
                </a:solidFill>
                <a:latin typeface="KMBAWC+LMMono10-Regular"/>
                <a:cs typeface="KMBAWC+LMMono10-Regular"/>
              </a:rPr>
              <a:t>nanosleep</a:t>
            </a:r>
            <a:r>
              <a:rPr dirty="0" sz="9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16.67</a:t>
            </a:r>
            <a:r>
              <a:rPr dirty="0" sz="900" spc="-13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900">
                <a:solidFill>
                  <a:srgbClr val="000000"/>
                </a:solidFill>
                <a:latin typeface="MRDOQG+LMSans10-Regular"/>
                <a:cs typeface="MRDOQG+LMSans10-Regular"/>
              </a:rPr>
              <a:t>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12381" y="2059751"/>
            <a:ext cx="4887674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KMBAWC+LMMono10-Regular"/>
                <a:cs typeface="KMBAWC+LMMono10-Regular"/>
              </a:rPr>
              <a:t>game_t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holds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64-entity</a:t>
            </a:r>
            <a:r>
              <a:rPr dirty="0" sz="1000" spc="1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13">
                <a:solidFill>
                  <a:srgbClr val="000000"/>
                </a:solidFill>
                <a:latin typeface="MRDOQG+LMSans10-Regular"/>
                <a:cs typeface="MRDOQG+LMSans10-Regular"/>
              </a:rPr>
              <a:t>pool.</a:t>
            </a:r>
            <a:r>
              <a:rPr dirty="0" sz="1000" spc="1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State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machine:</a:t>
            </a:r>
            <a:r>
              <a:rPr dirty="0" sz="1000" spc="1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5">
                <a:solidFill>
                  <a:srgbClr val="000000"/>
                </a:solidFill>
                <a:latin typeface="MRDOQG+LMSans10-Regular"/>
                <a:cs typeface="MRDOQG+LMSans10-Regular"/>
              </a:rPr>
              <a:t>PLAYING</a:t>
            </a:r>
            <a:r>
              <a:rPr dirty="0" sz="1000" spc="2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↗</a:t>
            </a:r>
            <a:r>
              <a:rPr dirty="0" sz="1000" spc="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LEVELUP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↑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GAMEOVER.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228229" y="2211580"/>
            <a:ext cx="3455588" cy="2232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3">
                <a:solidFill>
                  <a:srgbClr val="000000"/>
                </a:solidFill>
                <a:latin typeface="MRDOQG+LMSans10-Regular"/>
                <a:cs typeface="MRDOQG+LMSans10-Regular"/>
              </a:rPr>
              <a:t>Mortar</a:t>
            </a:r>
            <a:r>
              <a:rPr dirty="0" sz="1000" spc="2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is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timer-driven;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artillery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+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ﬁre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from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L/R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shoulders.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50802" y="3106608"/>
            <a:ext cx="342820" cy="14954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77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35">
                <a:solidFill>
                  <a:srgbClr val="000000"/>
                </a:solidFill>
                <a:latin typeface="OWJTJR+LMSans8-Regular"/>
                <a:cs typeface="OWJTJR+LMSans8-Regular"/>
              </a:rPr>
              <a:t>18/</a:t>
            </a:r>
            <a:r>
              <a:rPr dirty="0" sz="600" spc="-8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600">
                <a:solidFill>
                  <a:srgbClr val="000000"/>
                </a:solidFill>
                <a:latin typeface="OWJTJR+LMSans8-Regular"/>
                <a:cs typeface="OWJTJR+LMSans8-Regular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5753100" cy="32385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1605661" y="454494"/>
            <a:ext cx="2548737" cy="1911553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000" y="44124"/>
            <a:ext cx="1853388" cy="298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0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450" spc="-10">
                <a:solidFill>
                  <a:srgbClr val="000000"/>
                </a:solidFill>
                <a:latin typeface="PBIMLA+LMSans10-Bold"/>
                <a:cs typeface="PBIMLA+LMSans10-Bold"/>
              </a:rPr>
              <a:t>What</a:t>
            </a:r>
            <a:r>
              <a:rPr dirty="0" sz="1450" spc="7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>
                <a:solidFill>
                  <a:srgbClr val="000000"/>
                </a:solidFill>
                <a:latin typeface="PBIMLA+LMSans10-Bold"/>
                <a:cs typeface="PBIMLA+LMSans10-Bold"/>
              </a:rPr>
              <a:t>actually</a:t>
            </a:r>
            <a:r>
              <a:rPr dirty="0" sz="1450" spc="6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450" spc="-30">
                <a:solidFill>
                  <a:srgbClr val="000000"/>
                </a:solidFill>
                <a:latin typeface="PBIMLA+LMSans10-Bold"/>
                <a:cs typeface="PBIMLA+LMSans10-Bold"/>
              </a:rPr>
              <a:t>works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673" y="2497876"/>
            <a:ext cx="4640849" cy="30557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640</a:t>
            </a:r>
            <a:r>
              <a:rPr dirty="0" sz="1000">
                <a:solidFill>
                  <a:srgbClr val="000000"/>
                </a:solidFill>
                <a:latin typeface="HUOLOP+LMMathSymbols10-Regular"/>
                <a:cs typeface="HUOLOP+LMMathSymbols10-Regular"/>
              </a:rPr>
              <a:t>→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480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@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60</a:t>
            </a:r>
            <a:r>
              <a:rPr dirty="0" sz="1000" spc="-15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Hz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WBBGPW+LMMathSymbols10-Regular"/>
                <a:cs typeface="WBBGPW+LMMathSymbols10-Regular"/>
              </a:rPr>
              <a:t>•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tile-mapped</a:t>
            </a:r>
            <a:r>
              <a:rPr dirty="0" sz="1000" spc="11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battleﬁeld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WBBGPW+LMMathSymbols10-Regular"/>
                <a:cs typeface="WBBGPW+LMMathSymbols10-Regular"/>
              </a:rPr>
              <a:t>•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32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3">
                <a:solidFill>
                  <a:srgbClr val="000000"/>
                </a:solidFill>
                <a:latin typeface="MRDOQG+LMSans10-Regular"/>
                <a:cs typeface="MRDOQG+LMSans10-Regular"/>
              </a:rPr>
              <a:t>hardware</a:t>
            </a:r>
            <a:r>
              <a:rPr dirty="0" sz="1000" spc="2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sprites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WBBGPW+LMMathSymbols10-Regular"/>
                <a:cs typeface="WBBGPW+LMMathSymbols10-Regular"/>
              </a:rPr>
              <a:t>•</a:t>
            </a:r>
            <a:r>
              <a:rPr dirty="0" sz="10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256-entry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palette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2060" y="2649704"/>
            <a:ext cx="4227771" cy="52686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68756" marR="0">
              <a:lnSpc>
                <a:spcPts val="1457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HUD: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HP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0">
                <a:solidFill>
                  <a:srgbClr val="000000"/>
                </a:solidFill>
                <a:latin typeface="MRDOQG+LMSans10-Regular"/>
                <a:cs typeface="MRDOQG+LMSans10-Regular"/>
              </a:rPr>
              <a:t>bar,</a:t>
            </a:r>
            <a:r>
              <a:rPr dirty="0" sz="1000" spc="2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AMMO,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50">
                <a:solidFill>
                  <a:srgbClr val="000000"/>
                </a:solidFill>
                <a:latin typeface="MRDOQG+LMSans10-Regular"/>
                <a:cs typeface="MRDOQG+LMSans10-Regular"/>
              </a:rPr>
              <a:t>WAVE,</a:t>
            </a:r>
            <a:r>
              <a:rPr dirty="0" sz="1000" spc="6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ART,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GAS,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SCORE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(BCD)</a:t>
            </a:r>
          </a:p>
          <a:p>
            <a:pPr marL="34188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SNES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gamepad</a:t>
            </a:r>
            <a:r>
              <a:rPr dirty="0" sz="1000" spc="13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via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evdev;</a:t>
            </a:r>
            <a:r>
              <a:rPr dirty="0" sz="1000" spc="16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60</a:t>
            </a:r>
            <a:r>
              <a:rPr dirty="0" sz="1000" spc="-15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Hz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HPS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game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loop;</a:t>
            </a:r>
            <a:r>
              <a:rPr dirty="0" sz="10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frame-commit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at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VSYNC</a:t>
            </a:r>
          </a:p>
          <a:p>
            <a:pPr marL="0" marR="0">
              <a:lnSpc>
                <a:spcPts val="1195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Mortar,</a:t>
            </a:r>
            <a:r>
              <a:rPr dirty="0" sz="1000" spc="2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3">
                <a:solidFill>
                  <a:srgbClr val="000000"/>
                </a:solidFill>
                <a:latin typeface="MRDOQG+LMSans10-Regular"/>
                <a:cs typeface="MRDOQG+LMSans10-Regular"/>
              </a:rPr>
              <a:t>artillery,</a:t>
            </a:r>
            <a:r>
              <a:rPr dirty="0" sz="1000" spc="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gas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clouds,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 spc="-11">
                <a:solidFill>
                  <a:srgbClr val="000000"/>
                </a:solidFill>
                <a:latin typeface="MRDOQG+LMSans10-Regular"/>
                <a:cs typeface="MRDOQG+LMSans10-Regular"/>
              </a:rPr>
              <a:t>wave</a:t>
            </a:r>
            <a:r>
              <a:rPr dirty="0" sz="1000" spc="2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spawner,</a:t>
            </a:r>
            <a:r>
              <a:rPr dirty="0" sz="1000" spc="18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level-up,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ammo</a:t>
            </a:r>
            <a:r>
              <a:rPr dirty="0" sz="1000" spc="14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drops,</a:t>
            </a:r>
            <a:r>
              <a:rPr dirty="0" sz="1000" spc="15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000000"/>
                </a:solidFill>
                <a:latin typeface="MRDOQG+LMSans10-Regular"/>
                <a:cs typeface="MRDOQG+LMSans10-Regular"/>
              </a:rPr>
              <a:t>game-over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4290" y="0"/>
            <a:ext cx="5757024" cy="3238158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5765800" cy="323850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4122" y="0"/>
            <a:ext cx="5757018" cy="3238158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48876" y="329381"/>
            <a:ext cx="3087015" cy="4878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444"/>
              </a:lnSpc>
              <a:spcBef>
                <a:spcPts val="0"/>
              </a:spcBef>
              <a:spcAft>
                <a:spcPts val="0"/>
              </a:spcAft>
            </a:pPr>
            <a:r>
              <a:rPr dirty="0" sz="1800">
                <a:solidFill>
                  <a:srgbClr val="ece7da"/>
                </a:solidFill>
                <a:latin typeface="TDTWON+NotoSans-Bold"/>
                <a:cs typeface="TDTWON+NotoSans-Bold"/>
              </a:rPr>
              <a:t>No</a:t>
            </a:r>
            <a:r>
              <a:rPr dirty="0" sz="1800" spc="-101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1800" spc="-20">
                <a:solidFill>
                  <a:srgbClr val="ece7da"/>
                </a:solidFill>
                <a:latin typeface="TDTWON+NotoSans-Bold"/>
                <a:cs typeface="TDTWON+NotoSans-Bold"/>
              </a:rPr>
              <a:t>Man’s</a:t>
            </a:r>
            <a:r>
              <a:rPr dirty="0" sz="1800" spc="-87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1800">
                <a:solidFill>
                  <a:srgbClr val="ece7da"/>
                </a:solidFill>
                <a:latin typeface="TDTWON+NotoSans-Bold"/>
                <a:cs typeface="TDTWON+NotoSans-Bold"/>
              </a:rPr>
              <a:t>Land</a:t>
            </a:r>
          </a:p>
          <a:p>
            <a:pPr marL="21589" marR="0">
              <a:lnSpc>
                <a:spcPts val="1093"/>
              </a:lnSpc>
              <a:spcBef>
                <a:spcPts val="2"/>
              </a:spcBef>
              <a:spcAft>
                <a:spcPts val="0"/>
              </a:spcAft>
            </a:pP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Program</a:t>
            </a:r>
            <a:r>
              <a:rPr dirty="0" sz="800" spc="1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Deep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Dive: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from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controller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input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to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VGA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sprite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 </a:t>
            </a:r>
            <a:r>
              <a:rPr dirty="0" sz="800">
                <a:solidFill>
                  <a:srgbClr val="e4cfa2"/>
                </a:solidFill>
                <a:latin typeface="LGRJER+NotoSans-Regular"/>
                <a:cs typeface="LGRJER+NotoSans-Regular"/>
              </a:rPr>
              <a:t>table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94090" y="3074881"/>
            <a:ext cx="1711076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Focus: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software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program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internals,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data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22">
                <a:solidFill>
                  <a:srgbClr val="787878"/>
                </a:solidFill>
                <a:latin typeface="LGRJER+NotoSans-Regular"/>
                <a:cs typeface="LGRJER+NotoSans-Regular"/>
              </a:rPr>
              <a:t>ꢀow,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hardware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interface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497625" y="1279937"/>
            <a:ext cx="611150" cy="49812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522447" y="1295409"/>
            <a:ext cx="561337" cy="1270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577120" y="1279937"/>
            <a:ext cx="611150" cy="49812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601942" y="1295409"/>
            <a:ext cx="561337" cy="12700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2656615" y="1279937"/>
            <a:ext cx="611150" cy="49812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2681437" y="1295409"/>
            <a:ext cx="561337" cy="12700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735942" y="1279937"/>
            <a:ext cx="611317" cy="49812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760764" y="1295409"/>
            <a:ext cx="561505" cy="12700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176499" y="938755"/>
            <a:ext cx="734734" cy="669964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198257" y="949802"/>
            <a:ext cx="697400" cy="626275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1040095" y="938755"/>
            <a:ext cx="734734" cy="669964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061853" y="949802"/>
            <a:ext cx="697400" cy="626275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1903692" y="938755"/>
            <a:ext cx="864105" cy="669964"/>
          </a:xfrm>
          <a:prstGeom prst="rect">
            <a:avLst/>
          </a:prstGeom>
          <a:blipFill>
            <a:blip cstate="print" r:embed="rId1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1925449" y="949802"/>
            <a:ext cx="826940" cy="626275"/>
          </a:xfrm>
          <a:prstGeom prst="rect">
            <a:avLst/>
          </a:prstGeom>
          <a:blipFill>
            <a:blip cstate="print" r:embed="rId1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2918416" y="571553"/>
            <a:ext cx="777914" cy="518835"/>
          </a:xfrm>
          <a:prstGeom prst="rect">
            <a:avLst/>
          </a:prstGeom>
          <a:blipFill>
            <a:blip cstate="print" r:embed="rId1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2940174" y="582600"/>
            <a:ext cx="740580" cy="475151"/>
          </a:xfrm>
          <a:prstGeom prst="rect">
            <a:avLst/>
          </a:prstGeom>
          <a:blipFill>
            <a:blip cstate="print" r:embed="rId1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2918416" y="1348790"/>
            <a:ext cx="777914" cy="518835"/>
          </a:xfrm>
          <a:prstGeom prst="rect">
            <a:avLst/>
          </a:prstGeom>
          <a:blipFill>
            <a:blip cstate="print" r:embed="rId1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2940174" y="1359837"/>
            <a:ext cx="740580" cy="475151"/>
          </a:xfrm>
          <a:prstGeom prst="rect">
            <a:avLst/>
          </a:prstGeom>
          <a:blipFill>
            <a:blip cstate="print" r:embed="rId2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3868540" y="938755"/>
            <a:ext cx="799503" cy="669964"/>
          </a:xfrm>
          <a:prstGeom prst="rect">
            <a:avLst/>
          </a:prstGeom>
          <a:blipFill>
            <a:blip cstate="print" r:embed="rId2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3890303" y="949802"/>
            <a:ext cx="762165" cy="626275"/>
          </a:xfrm>
          <a:prstGeom prst="rect">
            <a:avLst/>
          </a:prstGeom>
          <a:blipFill>
            <a:blip cstate="print" r:embed="rId2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4753725" y="938755"/>
            <a:ext cx="799503" cy="669964"/>
          </a:xfrm>
          <a:prstGeom prst="rect">
            <a:avLst/>
          </a:prstGeom>
          <a:blipFill>
            <a:blip cstate="print" r:embed="rId2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4775489" y="949802"/>
            <a:ext cx="762165" cy="626275"/>
          </a:xfrm>
          <a:prstGeom prst="rect">
            <a:avLst/>
          </a:prstGeom>
          <a:blipFill>
            <a:blip cstate="print" r:embed="rId2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894405" y="116634"/>
            <a:ext cx="4111339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2">
                <a:solidFill>
                  <a:srgbClr val="ebe7d9"/>
                </a:solidFill>
                <a:latin typeface="TDTWON+NotoSans-Bold"/>
                <a:cs typeface="TDTWON+NotoSans-Bold"/>
              </a:rPr>
              <a:t>What</a:t>
            </a:r>
            <a:r>
              <a:rPr dirty="0" sz="1400" spc="-8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the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software</a:t>
            </a:r>
            <a:r>
              <a:rPr dirty="0" sz="1400" spc="-7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actually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does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each</a:t>
            </a:r>
            <a:r>
              <a:rPr dirty="0" sz="1400" spc="-7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frame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3492" y="370237"/>
            <a:ext cx="1713473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File-level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responsibilities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with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 spc="1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real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call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path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3058493" y="726580"/>
            <a:ext cx="606062" cy="2299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4722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wave.c</a:t>
            </a:r>
          </a:p>
          <a:p>
            <a:pPr marL="0" marR="0">
              <a:lnSpc>
                <a:spcPts val="65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spawn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schedule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81726" y="1086229"/>
            <a:ext cx="634028" cy="316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input_real.c</a:t>
            </a:r>
          </a:p>
          <a:p>
            <a:pPr marL="88062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/dev/input/</a:t>
            </a:r>
          </a:p>
          <a:p>
            <a:pPr marL="157252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event0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203297" y="1125834"/>
            <a:ext cx="515828" cy="316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3548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main.c</a:t>
            </a:r>
          </a:p>
          <a:p>
            <a:pPr marL="2039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frame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timing</a:t>
            </a:r>
          </a:p>
          <a:p>
            <a:pPr marL="0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state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logging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112447" y="1125834"/>
            <a:ext cx="553490" cy="316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0859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game.c</a:t>
            </a:r>
          </a:p>
          <a:p>
            <a:pPr marL="4084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state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machine</a:t>
            </a:r>
          </a:p>
          <a:p>
            <a:pPr marL="0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entity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updates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045679" y="1125834"/>
            <a:ext cx="551908" cy="316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953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render.c</a:t>
            </a:r>
          </a:p>
          <a:p>
            <a:pPr marL="0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entity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sprite</a:t>
            </a:r>
          </a:p>
          <a:p>
            <a:pPr marL="150451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slots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925090" y="1125834"/>
            <a:ext cx="564514" cy="316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nml_gpu.c</a:t>
            </a:r>
          </a:p>
          <a:p>
            <a:pPr marL="67995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/dev/mem</a:t>
            </a:r>
          </a:p>
          <a:p>
            <a:pPr marL="4419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register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writes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83558" y="1354272"/>
            <a:ext cx="415092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DITGIQ+DejaVuSans"/>
                <a:cs typeface="DITGIQ+DejaVuSans"/>
              </a:rPr>
              <a:t>→</a:t>
            </a:r>
            <a:r>
              <a:rPr dirty="0" sz="500" spc="-12">
                <a:solidFill>
                  <a:srgbClr val="e1dcd2"/>
                </a:solidFill>
                <a:latin typeface="DejaVu Sans"/>
                <a:cs typeface="DejaVu Sans"/>
              </a:rPr>
              <a:t> </a:t>
            </a:r>
            <a:r>
              <a:rPr dirty="0" sz="500" spc="12">
                <a:solidFill>
                  <a:srgbClr val="e1dcd2"/>
                </a:solidFill>
                <a:latin typeface="LGRJER+NotoSans-Regular"/>
                <a:cs typeface="LGRJER+NotoSans-Regular"/>
              </a:rPr>
              <a:t>bitmask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3106434" y="1503816"/>
            <a:ext cx="510703" cy="22998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autoatk.c</a:t>
            </a:r>
          </a:p>
          <a:p>
            <a:pPr marL="81261" marR="0">
              <a:lnSpc>
                <a:spcPts val="65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abilities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16879" y="2237406"/>
            <a:ext cx="5109117" cy="3146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main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separation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intentional: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gameplay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logic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never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knows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whether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output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terminal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text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or</a:t>
            </a:r>
          </a:p>
          <a:p>
            <a:pPr marL="2124482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real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FPGA.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322907" y="3074881"/>
            <a:ext cx="1254289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Detailed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deck: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program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calls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data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ownership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155419" y="539588"/>
            <a:ext cx="2504260" cy="1381586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2832056" y="506783"/>
            <a:ext cx="1123352" cy="475655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2853988" y="518005"/>
            <a:ext cx="1085845" cy="431797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4213810" y="506783"/>
            <a:ext cx="1123352" cy="475655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4235742" y="518005"/>
            <a:ext cx="1085845" cy="431797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369081" y="999267"/>
            <a:ext cx="49812" cy="438431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393904" y="1014740"/>
            <a:ext cx="12700" cy="388617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4750835" y="999267"/>
            <a:ext cx="49812" cy="438431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4775657" y="1014740"/>
            <a:ext cx="12700" cy="388617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2832056" y="1435149"/>
            <a:ext cx="2504937" cy="475655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2853988" y="1446370"/>
            <a:ext cx="2467598" cy="431798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2897677" y="2083692"/>
            <a:ext cx="2373868" cy="473958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2918758" y="2094067"/>
            <a:ext cx="2338059" cy="431797"/>
          </a:xfrm>
          <a:prstGeom prst="rect">
            <a:avLst/>
          </a:prstGeom>
          <a:blipFill>
            <a:blip cstate="print" r:embed="rId1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685753" y="116634"/>
            <a:ext cx="2529814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Two</a:t>
            </a:r>
            <a:r>
              <a:rPr dirty="0" sz="1400" spc="-6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builds,</a:t>
            </a:r>
            <a:r>
              <a:rPr dirty="0" sz="1400" spc="-8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one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1">
                <a:solidFill>
                  <a:srgbClr val="ebe7d9"/>
                </a:solidFill>
                <a:latin typeface="TDTWON+NotoSans-Bold"/>
                <a:cs typeface="TDTWON+NotoSans-Bold"/>
              </a:rPr>
              <a:t>game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core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81850" y="370237"/>
            <a:ext cx="1676367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2">
                <a:solidFill>
                  <a:srgbClr val="afa899"/>
                </a:solidFill>
                <a:latin typeface="LGRJER+NotoSans-Regular"/>
                <a:cs typeface="LGRJER+NotoSans-Regular"/>
              </a:rPr>
              <a:t>same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game_t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game_tick()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are</a:t>
            </a:r>
            <a:r>
              <a:rPr dirty="0" sz="550" spc="15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reused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04944" y="584675"/>
            <a:ext cx="894171" cy="339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ce7da"/>
                </a:solidFill>
                <a:latin typeface="TDTWON+NotoSans-Bold"/>
                <a:cs typeface="TDTWON+NotoSans-Bold"/>
              </a:rPr>
              <a:t>Terminal</a:t>
            </a:r>
            <a:r>
              <a:rPr dirty="0" sz="850" spc="-40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ce7da"/>
                </a:solidFill>
                <a:latin typeface="TDTWON+NotoSans-Bold"/>
                <a:cs typeface="TDTWON+NotoSans-Bold"/>
              </a:rPr>
              <a:t>build</a:t>
            </a:r>
          </a:p>
          <a:p>
            <a:pPr marL="112879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render_terminal.c</a:t>
            </a:r>
          </a:p>
          <a:p>
            <a:pPr marL="119344" marR="0">
              <a:lnSpc>
                <a:spcPts val="623"/>
              </a:lnSpc>
              <a:spcBef>
                <a:spcPts val="5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prints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sprite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slots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454358" y="584675"/>
            <a:ext cx="758578" cy="339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603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FPGA</a:t>
            </a:r>
            <a:r>
              <a:rPr dirty="0" sz="850" spc="-5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build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render.c</a:t>
            </a:r>
            <a:r>
              <a:rPr dirty="0" sz="500" spc="18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+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nml_gpu.c</a:t>
            </a:r>
          </a:p>
          <a:p>
            <a:pPr marL="81262" marR="0">
              <a:lnSpc>
                <a:spcPts val="623"/>
              </a:lnSpc>
              <a:spcBef>
                <a:spcPts val="5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writes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registers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50253" y="1548668"/>
            <a:ext cx="1818015" cy="2679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99458" marR="0">
              <a:lnSpc>
                <a:spcPts val="12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be7d9"/>
                </a:solidFill>
                <a:latin typeface="TDTWON+NotoSans-Bold"/>
                <a:cs typeface="TDTWON+NotoSans-Bold"/>
              </a:rPr>
              <a:t>Shared</a:t>
            </a:r>
            <a:r>
              <a:rPr dirty="0" sz="900" spc="-5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900">
                <a:solidFill>
                  <a:srgbClr val="ebe7d9"/>
                </a:solidFill>
                <a:latin typeface="TDTWON+NotoSans-Bold"/>
                <a:cs typeface="TDTWON+NotoSans-Bold"/>
              </a:rPr>
              <a:t>core</a:t>
            </a:r>
          </a:p>
          <a:p>
            <a:pPr marL="0" marR="0">
              <a:lnSpc>
                <a:spcPts val="698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main.c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input_read()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 spc="-13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game_tick()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 spc="-16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render_frame()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153524" y="2181607"/>
            <a:ext cx="2026356" cy="222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uint16_t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input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=</a:t>
            </a:r>
            <a:r>
              <a:rPr dirty="0" sz="600" spc="15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input_read(game.frame);</a:t>
            </a:r>
          </a:p>
          <a:p>
            <a:pPr marL="374170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game_tick(&amp;game,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input);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621365" y="2368942"/>
            <a:ext cx="1080487" cy="1289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render_frame(&amp;game);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92309" y="3074881"/>
            <a:ext cx="1315270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Build-time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choice: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link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render_terminal.c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or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20">
                <a:solidFill>
                  <a:srgbClr val="787878"/>
                </a:solidFill>
                <a:latin typeface="LGRJER+NotoSans-Regular"/>
                <a:cs typeface="LGRJER+NotoSans-Regular"/>
              </a:rPr>
              <a:t>render.c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262859" y="571553"/>
            <a:ext cx="1339251" cy="2159668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284790" y="582774"/>
            <a:ext cx="1301744" cy="211581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663480" y="1603784"/>
            <a:ext cx="546380" cy="49812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688302" y="1619257"/>
            <a:ext cx="496567" cy="12700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2162938" y="571553"/>
            <a:ext cx="1360841" cy="2159668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2184870" y="582774"/>
            <a:ext cx="1323333" cy="2115810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563391" y="1603784"/>
            <a:ext cx="546380" cy="49812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588213" y="1619257"/>
            <a:ext cx="496567" cy="12700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4062681" y="571553"/>
            <a:ext cx="1425610" cy="2159667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4084439" y="582600"/>
            <a:ext cx="1388278" cy="2115984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90456" y="116634"/>
            <a:ext cx="3919427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The</a:t>
            </a:r>
            <a:r>
              <a:rPr dirty="0" sz="1400" spc="-8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2">
                <a:solidFill>
                  <a:srgbClr val="ebe7d9"/>
                </a:solidFill>
                <a:latin typeface="TDTWON+NotoSans-Bold"/>
                <a:cs typeface="TDTWON+NotoSans-Bold"/>
              </a:rPr>
              <a:t>game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state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just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structured</a:t>
            </a:r>
            <a:r>
              <a:rPr dirty="0" sz="1400" spc="-7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1">
                <a:solidFill>
                  <a:srgbClr val="ebe7d9"/>
                </a:solidFill>
                <a:latin typeface="TDTWON+NotoSans-Bold"/>
                <a:cs typeface="TDTWON+NotoSans-Bold"/>
              </a:rPr>
              <a:t>memory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93032" y="370237"/>
            <a:ext cx="1454157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game_t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owns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every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object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counter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1934" y="1050515"/>
            <a:ext cx="634568" cy="2177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be7d9"/>
                </a:solidFill>
                <a:latin typeface="TDTWON+NotoSans-Bold"/>
                <a:cs typeface="TDTWON+NotoSans-Bold"/>
              </a:rPr>
              <a:t>game_t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590825" y="1101005"/>
            <a:ext cx="658314" cy="3140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be7d9"/>
                </a:solidFill>
                <a:latin typeface="TDTWON+NotoSans-Bold"/>
                <a:cs typeface="TDTWON+NotoSans-Bold"/>
              </a:rPr>
              <a:t>entity_t</a:t>
            </a:r>
          </a:p>
          <a:p>
            <a:pPr marL="167453" marR="0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kind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84826" y="1151327"/>
            <a:ext cx="933103" cy="31405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14"/>
              </a:lnSpc>
              <a:spcBef>
                <a:spcPts val="0"/>
              </a:spcBef>
              <a:spcAft>
                <a:spcPts val="0"/>
              </a:spcAft>
            </a:pPr>
            <a:r>
              <a:rPr dirty="0" sz="1050">
                <a:solidFill>
                  <a:srgbClr val="ebe7d9"/>
                </a:solidFill>
                <a:latin typeface="TDTWON+NotoSans-Bold"/>
                <a:cs typeface="TDTWON+NotoSans-Bold"/>
              </a:rPr>
              <a:t>Entity</a:t>
            </a:r>
            <a:r>
              <a:rPr dirty="0" sz="1050" spc="-6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050">
                <a:solidFill>
                  <a:srgbClr val="ebe7d9"/>
                </a:solidFill>
                <a:latin typeface="TDTWON+NotoSans-Bold"/>
                <a:cs typeface="TDTWON+NotoSans-Bold"/>
              </a:rPr>
              <a:t>kinds</a:t>
            </a:r>
          </a:p>
          <a:p>
            <a:pPr marL="245483" marR="0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PLAYER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71499" y="1212094"/>
            <a:ext cx="444959" cy="2532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ents[64]</a:t>
            </a:r>
          </a:p>
          <a:p>
            <a:pPr marL="8498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player_i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728359" y="1363398"/>
            <a:ext cx="353255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active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36817" y="1413714"/>
            <a:ext cx="514242" cy="2532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7861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frame</a:t>
            </a:r>
          </a:p>
          <a:p>
            <a:pPr marL="0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score</a:t>
            </a:r>
            <a:r>
              <a:rPr dirty="0" sz="65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/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hp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07951" y="1413714"/>
            <a:ext cx="858135" cy="35409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2557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ENEMY_ARMED</a:t>
            </a:r>
          </a:p>
          <a:p>
            <a:pPr marL="0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ENEMY_UNARMED</a:t>
            </a:r>
          </a:p>
          <a:p>
            <a:pPr marL="218273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BULLET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77314" y="1464204"/>
            <a:ext cx="255083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x,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y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734476" y="1565011"/>
            <a:ext cx="340490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vx,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vy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93676" y="1615334"/>
            <a:ext cx="800357" cy="253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state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/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prev_state</a:t>
            </a:r>
          </a:p>
          <a:p>
            <a:pPr marL="129539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prev_input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791258" y="1665824"/>
            <a:ext cx="227370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hp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466940" y="1716141"/>
            <a:ext cx="739976" cy="2532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ENEMY_BULLET</a:t>
            </a:r>
          </a:p>
          <a:p>
            <a:pPr marL="80578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AUTO_PROJ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619390" y="1766631"/>
            <a:ext cx="570927" cy="4549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4717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phase</a:t>
            </a:r>
          </a:p>
          <a:p>
            <a:pPr marL="0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ttl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/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ttl_max</a:t>
            </a:r>
          </a:p>
          <a:p>
            <a:pPr marL="67144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payload</a:t>
            </a:r>
          </a:p>
          <a:p>
            <a:pPr marL="93496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1re_cd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645528" y="1816953"/>
            <a:ext cx="696979" cy="2532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counters</a:t>
            </a:r>
          </a:p>
          <a:p>
            <a:pPr marL="87379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autoatks[]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609397" y="1917760"/>
            <a:ext cx="454953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HAZARD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87217" y="2018573"/>
            <a:ext cx="813122" cy="253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287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ammo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/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charges</a:t>
            </a:r>
          </a:p>
          <a:p>
            <a:pPr marL="0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beam</a:t>
            </a:r>
            <a:r>
              <a:rPr dirty="0" sz="65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visual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state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505358" y="2018573"/>
            <a:ext cx="663052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1dbd1"/>
                </a:solidFill>
                <a:latin typeface="LGRJER+NotoSans-Regular"/>
                <a:cs typeface="LGRJER+NotoSans-Regular"/>
              </a:rPr>
              <a:t>AMMO_DROP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229411" y="3074881"/>
            <a:ext cx="1441357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Core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invariant: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inactive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entity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slots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are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available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for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reuse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285300" y="550809"/>
            <a:ext cx="2503408" cy="112165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06380" y="561184"/>
            <a:ext cx="2467599" cy="1079495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3004775" y="528548"/>
            <a:ext cx="2159668" cy="41088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3026534" y="539594"/>
            <a:ext cx="2122334" cy="367196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004775" y="1025115"/>
            <a:ext cx="2159499" cy="41088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026534" y="1036162"/>
            <a:ext cx="2122334" cy="367196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004775" y="1521683"/>
            <a:ext cx="2159668" cy="410885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026534" y="1532729"/>
            <a:ext cx="2122334" cy="367196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004775" y="2018251"/>
            <a:ext cx="2159668" cy="410885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3026534" y="2029297"/>
            <a:ext cx="2122334" cy="367196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34785" y="116634"/>
            <a:ext cx="3630207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main.c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controls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timing,</a:t>
            </a:r>
            <a:r>
              <a:rPr dirty="0" sz="1400" spc="-8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not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2">
                <a:solidFill>
                  <a:srgbClr val="ebe7d9"/>
                </a:solidFill>
                <a:latin typeface="TDTWON+NotoSans-Bold"/>
                <a:cs typeface="TDTWON+NotoSans-Bold"/>
              </a:rPr>
              <a:t>game</a:t>
            </a:r>
            <a:r>
              <a:rPr dirty="0" sz="1400" spc="-8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rules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00755" y="370237"/>
            <a:ext cx="2636971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loop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handles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hardware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init,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signals,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frame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duration,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debug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prints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78384" y="594389"/>
            <a:ext cx="1277472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if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(!NML_TERMINAL_BUILD)</a:t>
            </a:r>
            <a:r>
              <a:rPr dirty="0" sz="550" spc="1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{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906964" y="621719"/>
            <a:ext cx="498866" cy="168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ce7da"/>
                </a:solidFill>
                <a:latin typeface="TDTWON+NotoSans-Bold"/>
                <a:cs typeface="TDTWON+NotoSans-Bold"/>
              </a:rPr>
              <a:t>startup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86269" y="680748"/>
            <a:ext cx="1145150" cy="4672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0098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nml_open();</a:t>
            </a:r>
          </a:p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init_palette_runtime();</a:t>
            </a:r>
          </a:p>
          <a:p>
            <a:pPr marL="21931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render_init_tilemap();</a:t>
            </a:r>
          </a:p>
          <a:p>
            <a:pPr marL="108291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nml_set_enable(1);</a:t>
            </a:r>
          </a:p>
          <a:p>
            <a:pPr marL="433565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}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39206" y="738870"/>
            <a:ext cx="1840443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cd2"/>
                </a:solidFill>
                <a:latin typeface="LGRJER+NotoSans-Regular"/>
                <a:cs typeface="LGRJER+NotoSans-Regular"/>
              </a:rPr>
              <a:t>FPGA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path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1dcd2"/>
                </a:solidFill>
                <a:latin typeface="LGRJER+NotoSans-Regular"/>
                <a:cs typeface="LGRJER+NotoSans-Regular"/>
              </a:rPr>
              <a:t>maps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/dev/mem</a:t>
            </a:r>
            <a:r>
              <a:rPr dirty="0" sz="500" spc="15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paints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palette/tilemap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845420" y="1118287"/>
            <a:ext cx="623986" cy="168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per-frame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21499" y="1198906"/>
            <a:ext cx="1277472" cy="46724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8697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while</a:t>
            </a:r>
            <a:r>
              <a:rPr dirty="0" sz="550" spc="13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(g_running)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{</a:t>
            </a:r>
          </a:p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input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2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input_read(frame);</a:t>
            </a:r>
          </a:p>
          <a:p>
            <a:pPr marL="43179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game_tick(&amp;game,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input);</a:t>
            </a:r>
          </a:p>
          <a:p>
            <a:pPr marL="129881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render_frame(&amp;game);</a:t>
            </a:r>
          </a:p>
          <a:p>
            <a:pPr marL="498335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}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754131" y="1235437"/>
            <a:ext cx="758659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input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tick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 spc="-10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render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428411" y="1614855"/>
            <a:ext cx="1462441" cy="2450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5761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transitions</a:t>
            </a:r>
          </a:p>
          <a:p>
            <a:pPr marL="0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prints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1dbd1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clear,</a:t>
            </a:r>
            <a:r>
              <a:rPr dirty="0" sz="500" spc="2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level-up,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game-over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logs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71591" y="2111422"/>
            <a:ext cx="1376302" cy="2450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7417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shutdown</a:t>
            </a:r>
          </a:p>
          <a:p>
            <a:pPr marL="0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SIGINT/SIGTERM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turns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1dbd1"/>
                </a:solidFill>
                <a:latin typeface="LGRJER+NotoSans-Regular"/>
                <a:cs typeface="LGRJER+NotoSans-Regular"/>
              </a:rPr>
              <a:t>o@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video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cleanly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340251" y="3074881"/>
            <a:ext cx="1220203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main.c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stays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thin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so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gameplay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remains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testable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262859" y="506783"/>
            <a:ext cx="907285" cy="47565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284790" y="518005"/>
            <a:ext cx="869945" cy="431797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231681" y="718599"/>
            <a:ext cx="524790" cy="49812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256504" y="734071"/>
            <a:ext cx="474977" cy="12700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1730971" y="506783"/>
            <a:ext cx="993813" cy="47565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1752903" y="518005"/>
            <a:ext cx="956306" cy="431797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2786154" y="718599"/>
            <a:ext cx="524790" cy="49812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2810976" y="734071"/>
            <a:ext cx="474978" cy="12700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285444" y="506783"/>
            <a:ext cx="993813" cy="475655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3307376" y="518005"/>
            <a:ext cx="956305" cy="431797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4340627" y="718599"/>
            <a:ext cx="524790" cy="49812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4365450" y="734071"/>
            <a:ext cx="474977" cy="12700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4753558" y="506783"/>
            <a:ext cx="777914" cy="475655"/>
          </a:xfrm>
          <a:prstGeom prst="rect">
            <a:avLst/>
          </a:prstGeom>
          <a:blipFill>
            <a:blip cstate="print" r:embed="rId1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4775489" y="518005"/>
            <a:ext cx="740406" cy="431797"/>
          </a:xfrm>
          <a:prstGeom prst="rect">
            <a:avLst/>
          </a:prstGeom>
          <a:blipFill>
            <a:blip cstate="print" r:embed="rId1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8415" y="116634"/>
            <a:ext cx="4262783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input_real.c</a:t>
            </a:r>
            <a:r>
              <a:rPr dirty="0" sz="1400" spc="-7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turns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Linux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events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into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</a:t>
            </a:r>
            <a:r>
              <a:rPr dirty="0" sz="1400" spc="-6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bitmask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72158" y="370237"/>
            <a:ext cx="1695567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2">
                <a:solidFill>
                  <a:srgbClr val="afa999"/>
                </a:solidFill>
                <a:latin typeface="LGRJER+NotoSans-Regular"/>
                <a:cs typeface="LGRJER+NotoSans-Regular"/>
              </a:rPr>
              <a:t>No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1">
                <a:solidFill>
                  <a:srgbClr val="afa999"/>
                </a:solidFill>
                <a:latin typeface="LGRJER+NotoSans-Regular"/>
                <a:cs typeface="LGRJER+NotoSans-Regular"/>
              </a:rPr>
              <a:t>game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logic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depends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2">
                <a:solidFill>
                  <a:srgbClr val="afa999"/>
                </a:solidFill>
                <a:latin typeface="LGRJER+NotoSans-Regular"/>
                <a:cs typeface="LGRJER+NotoSans-Regular"/>
              </a:rPr>
              <a:t>on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Linux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input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details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0226" y="582350"/>
            <a:ext cx="647557" cy="1605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/dev/input/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96212" y="596630"/>
            <a:ext cx="770687" cy="316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4789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drain_events()</a:t>
            </a:r>
          </a:p>
          <a:p>
            <a:pPr marL="0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updates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button_state</a:t>
            </a:r>
          </a:p>
          <a:p>
            <a:pPr marL="95709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axis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values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464791" y="596630"/>
            <a:ext cx="742212" cy="31675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axis</a:t>
            </a:r>
            <a:r>
              <a:rPr dirty="0" sz="700" spc="-3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deadzone</a:t>
            </a:r>
          </a:p>
          <a:p>
            <a:pPr marL="115769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ABS_X/ABS_Y</a:t>
            </a:r>
          </a:p>
          <a:p>
            <a:pPr marL="48115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 spc="-12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movement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bits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945144" y="636241"/>
            <a:ext cx="508196" cy="2375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472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uint16_t</a:t>
            </a:r>
          </a:p>
          <a:p>
            <a:pPr marL="0" marR="0">
              <a:lnSpc>
                <a:spcPts val="661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INPUT_*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bits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63756" y="690300"/>
            <a:ext cx="440363" cy="1605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64"/>
              </a:lnSpc>
              <a:spcBef>
                <a:spcPts val="0"/>
              </a:spcBef>
              <a:spcAft>
                <a:spcPts val="0"/>
              </a:spcAft>
            </a:pPr>
            <a:r>
              <a:rPr dirty="0" sz="700">
                <a:solidFill>
                  <a:srgbClr val="ebe7d9"/>
                </a:solidFill>
                <a:latin typeface="TDTWON+NotoSans-Bold"/>
                <a:cs typeface="TDTWON+NotoSans-Bold"/>
              </a:rPr>
              <a:t>event0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25209" y="799903"/>
            <a:ext cx="677123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nonblocking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evdev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15395" y="1316942"/>
            <a:ext cx="390925" cy="7675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1992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10">
                <a:solidFill>
                  <a:srgbClr val="ebe7d9"/>
                </a:solidFill>
                <a:latin typeface="TDTWON+NotoSans-Bold"/>
                <a:cs typeface="TDTWON+NotoSans-Bold"/>
              </a:rPr>
              <a:t>Control</a:t>
            </a:r>
          </a:p>
          <a:p>
            <a:pPr marL="14279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D-pad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X/Y</a:t>
            </a:r>
          </a:p>
          <a:p>
            <a:pPr marL="0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B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Y</a:t>
            </a:r>
            <a:r>
              <a:rPr dirty="0" sz="450" spc="19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X</a:t>
            </a:r>
            <a:r>
              <a:rPr dirty="0" sz="45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A</a:t>
            </a:r>
          </a:p>
          <a:p>
            <a:pPr marL="91799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L</a:t>
            </a:r>
            <a:r>
              <a:rPr dirty="0" sz="45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R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95619" y="1316942"/>
            <a:ext cx="480156" cy="3357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6720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11">
                <a:solidFill>
                  <a:srgbClr val="ebe7d9"/>
                </a:solidFill>
                <a:latin typeface="TDTWON+NotoSans-Bold"/>
                <a:cs typeface="TDTWON+NotoSans-Bold"/>
              </a:rPr>
              <a:t>Linux</a:t>
            </a:r>
            <a:r>
              <a:rPr dirty="0" sz="450" spc="-2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450" spc="13">
                <a:solidFill>
                  <a:srgbClr val="ebe7d9"/>
                </a:solidFill>
                <a:latin typeface="TDTWON+NotoSans-Bold"/>
                <a:cs typeface="TDTWON+NotoSans-Bold"/>
              </a:rPr>
              <a:t>code</a:t>
            </a:r>
          </a:p>
          <a:p>
            <a:pPr marL="0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ABS_X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ABS_Y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143769" y="1316942"/>
            <a:ext cx="356480" cy="119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15">
                <a:solidFill>
                  <a:srgbClr val="ebe7d9"/>
                </a:solidFill>
                <a:latin typeface="TDTWON+NotoSans-Bold"/>
                <a:cs typeface="TDTWON+NotoSans-Bold"/>
              </a:rPr>
              <a:t>Game</a:t>
            </a:r>
            <a:r>
              <a:rPr dirty="0" sz="450" spc="-2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450" spc="10">
                <a:solidFill>
                  <a:srgbClr val="ebe7d9"/>
                </a:solidFill>
                <a:latin typeface="TDTWON+NotoSans-Bold"/>
                <a:cs typeface="TDTWON+NotoSans-Bold"/>
              </a:rPr>
              <a:t>bit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3910700" y="1532841"/>
            <a:ext cx="847708" cy="5516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LEFT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RIGHT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UP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DOWN</a:t>
            </a:r>
          </a:p>
          <a:p>
            <a:pPr marL="6459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1re</a:t>
            </a:r>
            <a:r>
              <a:rPr dirty="0" sz="450" spc="18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down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left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up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right</a:t>
            </a:r>
          </a:p>
          <a:p>
            <a:pPr marL="185301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artillery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gas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728591" y="1748740"/>
            <a:ext cx="1280969" cy="55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BTN_THUMB2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TOP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TRIGGER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4">
                <a:solidFill>
                  <a:srgbClr val="ebe7d9"/>
                </a:solidFill>
                <a:latin typeface="LGRJER+NotoSans-Regular"/>
                <a:cs typeface="LGRJER+NotoSans-Regular"/>
              </a:rPr>
              <a:t>THUMB</a:t>
            </a:r>
          </a:p>
          <a:p>
            <a:pPr marL="223209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BTN_TOP2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BTN_PINKIE</a:t>
            </a:r>
          </a:p>
          <a:p>
            <a:pPr marL="403749" marR="0">
              <a:lnSpc>
                <a:spcPts val="643"/>
              </a:lnSpc>
              <a:spcBef>
                <a:spcPts val="1056"/>
              </a:spcBef>
              <a:spcAft>
                <a:spcPts val="0"/>
              </a:spcAft>
            </a:pPr>
            <a:r>
              <a:rPr dirty="0" sz="45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BTN_BASE4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01077" y="2180538"/>
            <a:ext cx="220442" cy="119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Start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3978018" y="2180538"/>
            <a:ext cx="692230" cy="1198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43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restart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con1rm</a:t>
            </a:r>
            <a:r>
              <a:rPr dirty="0" sz="45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path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088309" y="3074881"/>
            <a:ext cx="1723397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Debug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mode: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NML_INPUT_DEBUG=</a:t>
            </a:r>
            <a:r>
              <a:rPr dirty="0" sz="400">
                <a:solidFill>
                  <a:srgbClr val="777777"/>
                </a:solidFill>
                <a:latin typeface="LAVVDN+NotoSans-Regular"/>
                <a:cs typeface="LAVVDN+NotoSans-Regular"/>
              </a:rPr>
              <a:t>1</a:t>
            </a:r>
            <a:r>
              <a:rPr dirty="0" sz="400" spc="-39">
                <a:solidFill>
                  <a:srgbClr val="777777"/>
                </a:solidFill>
                <a:latin typeface="DejaVu Sans"/>
                <a:cs typeface="DejaVu Sans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prints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raw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events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for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remapping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1318041" y="848138"/>
            <a:ext cx="978178" cy="49812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1342863" y="863611"/>
            <a:ext cx="928365" cy="12700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2980464" y="848138"/>
            <a:ext cx="956588" cy="49812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3005286" y="863611"/>
            <a:ext cx="906775" cy="12700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4254267" y="1279942"/>
            <a:ext cx="49812" cy="632566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4279090" y="1295409"/>
            <a:ext cx="12700" cy="582759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2980464" y="2165122"/>
            <a:ext cx="956588" cy="49812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005286" y="2180595"/>
            <a:ext cx="906775" cy="12700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70808" y="614733"/>
            <a:ext cx="993813" cy="518835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392566" y="625780"/>
            <a:ext cx="956479" cy="475152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2162770" y="614733"/>
            <a:ext cx="950633" cy="518835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2184528" y="625780"/>
            <a:ext cx="913299" cy="475152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3890129" y="614733"/>
            <a:ext cx="1015402" cy="518835"/>
          </a:xfrm>
          <a:prstGeom prst="rect">
            <a:avLst/>
          </a:prstGeom>
          <a:blipFill>
            <a:blip cstate="print" r:embed="rId1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3911893" y="625780"/>
            <a:ext cx="978063" cy="475152"/>
          </a:xfrm>
          <a:prstGeom prst="rect">
            <a:avLst/>
          </a:prstGeom>
          <a:blipFill>
            <a:blip cstate="print" r:embed="rId1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1644613" y="1910127"/>
            <a:ext cx="1555150" cy="518835"/>
          </a:xfrm>
          <a:prstGeom prst="rect">
            <a:avLst/>
          </a:prstGeom>
          <a:blipFill>
            <a:blip cstate="print" r:embed="rId1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1666370" y="1921174"/>
            <a:ext cx="1517816" cy="475151"/>
          </a:xfrm>
          <a:prstGeom prst="rect">
            <a:avLst/>
          </a:prstGeom>
          <a:blipFill>
            <a:blip cstate="print" r:embed="rId1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517963" y="116634"/>
            <a:ext cx="2864536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game_tick()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</a:t>
            </a:r>
            <a:r>
              <a:rPr dirty="0" sz="1400" spc="-6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state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machine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788941" y="370237"/>
            <a:ext cx="2261085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Most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bugs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are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easier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to</a:t>
            </a:r>
            <a:r>
              <a:rPr dirty="0" sz="550" spc="13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locate</a:t>
            </a:r>
            <a:r>
              <a:rPr dirty="0" sz="550" spc="11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once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state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transition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clear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007938" y="664731"/>
            <a:ext cx="937984" cy="168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STATE_GAMEOVE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03748" y="722190"/>
            <a:ext cx="860348" cy="32430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 spc="-11">
                <a:solidFill>
                  <a:srgbClr val="ece7da"/>
                </a:solidFill>
                <a:latin typeface="TDTWON+NotoSans-Bold"/>
                <a:cs typeface="TDTWON+NotoSans-Bold"/>
              </a:rPr>
              <a:t>STATE_PLAYING</a:t>
            </a:r>
          </a:p>
          <a:p>
            <a:pPr marL="114408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updates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entities</a:t>
            </a:r>
          </a:p>
          <a:p>
            <a:pPr marL="86701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checks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cd2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clear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278708" y="722190"/>
            <a:ext cx="852906" cy="2450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STATE_LEVELUP</a:t>
            </a:r>
          </a:p>
          <a:p>
            <a:pPr marL="165240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cursor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move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366301" y="779817"/>
            <a:ext cx="206153" cy="168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R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144963" y="896974"/>
            <a:ext cx="599361" cy="2071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1167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wait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for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Start</a:t>
            </a:r>
          </a:p>
          <a:p>
            <a:pPr marL="0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then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game_init()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71320" y="918564"/>
            <a:ext cx="428003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B</a:t>
            </a:r>
            <a:r>
              <a:rPr dirty="0" sz="500" spc="14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con1rms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90656" y="1481760"/>
            <a:ext cx="4919342" cy="3146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Every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tick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starts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 spc="-18">
                <a:solidFill>
                  <a:srgbClr val="ebe7d9"/>
                </a:solidFill>
                <a:latin typeface="LGRJER+NotoSans-Regular"/>
                <a:cs typeface="LGRJER+NotoSans-Regular"/>
              </a:rPr>
              <a:t>by</a:t>
            </a:r>
            <a:r>
              <a:rPr dirty="0" sz="850" spc="2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saving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prev_state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increments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frame;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prev_input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stored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at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end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for</a:t>
            </a:r>
          </a:p>
          <a:p>
            <a:pPr marL="1990522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edge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detection.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753749" y="2057190"/>
            <a:ext cx="1487108" cy="24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1043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wave_advance()</a:t>
            </a:r>
          </a:p>
          <a:p>
            <a:pPr marL="0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applies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upgrade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then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resets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counters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2148832" y="3074881"/>
            <a:ext cx="1602344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game_tick():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routes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6">
                <a:solidFill>
                  <a:srgbClr val="787878"/>
                </a:solidFill>
                <a:latin typeface="LGRJER+NotoSans-Regular"/>
                <a:cs typeface="LGRJER+NotoSans-Regular"/>
              </a:rPr>
              <a:t>PLAYING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vs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LEVELUP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vs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5">
                <a:solidFill>
                  <a:srgbClr val="787878"/>
                </a:solidFill>
                <a:latin typeface="LGRJER+NotoSans-Regular"/>
                <a:cs typeface="LGRJER+NotoSans-Regular"/>
              </a:rPr>
              <a:t>GAMEOVER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behavior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27628" y="571727"/>
            <a:ext cx="1166532" cy="49724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49386" y="582774"/>
            <a:ext cx="1129198" cy="453555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579843" y="571727"/>
            <a:ext cx="1166364" cy="49724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601600" y="582774"/>
            <a:ext cx="1129199" cy="453555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2832056" y="571727"/>
            <a:ext cx="1166532" cy="49724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2853814" y="582774"/>
            <a:ext cx="1129199" cy="453555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4084270" y="571727"/>
            <a:ext cx="1166532" cy="497245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4106028" y="582774"/>
            <a:ext cx="1129198" cy="453555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479777" y="1284866"/>
            <a:ext cx="2309100" cy="948935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500857" y="1295241"/>
            <a:ext cx="2273289" cy="906775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3005627" y="1284866"/>
            <a:ext cx="2114790" cy="948935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3026708" y="1295241"/>
            <a:ext cx="2078980" cy="906775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44334" y="116634"/>
            <a:ext cx="4610815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update: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movement,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clamps,</a:t>
            </a:r>
            <a:r>
              <a:rPr dirty="0" sz="1400" spc="-8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9ring,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abilities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766673" y="370237"/>
            <a:ext cx="2306175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update_player()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consumes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bitmask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produced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by</a:t>
            </a:r>
            <a:r>
              <a:rPr dirty="0" sz="550" spc="11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input_real.c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35707" y="660324"/>
            <a:ext cx="866220" cy="339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29158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Move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D-pad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adds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±4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px/frame</a:t>
            </a:r>
          </a:p>
          <a:p>
            <a:pPr marL="287979" marR="0">
              <a:lnSpc>
                <a:spcPts val="623"/>
              </a:lnSpc>
              <a:spcBef>
                <a:spcPts val="5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to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x/y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41941" y="660324"/>
            <a:ext cx="558464" cy="339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0316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Clamp</a:t>
            </a:r>
          </a:p>
          <a:p>
            <a:pPr marL="92476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x: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0..624</a:t>
            </a:r>
          </a:p>
          <a:p>
            <a:pPr marL="0" marR="0">
              <a:lnSpc>
                <a:spcPts val="623"/>
              </a:lnSpc>
              <a:spcBef>
                <a:spcPts val="5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y: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HUD_H..464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3101672" y="660324"/>
            <a:ext cx="743342" cy="339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233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Fire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face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buttons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choose</a:t>
            </a:r>
          </a:p>
          <a:p>
            <a:pPr marL="29920" marR="0">
              <a:lnSpc>
                <a:spcPts val="623"/>
              </a:lnSpc>
              <a:spcBef>
                <a:spcPts val="5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axis-aligned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bullet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48241" y="660324"/>
            <a:ext cx="556289" cy="33959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Abilities</a:t>
            </a:r>
          </a:p>
          <a:p>
            <a:pPr marL="65447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L: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artillery</a:t>
            </a:r>
          </a:p>
          <a:p>
            <a:pPr marL="32636" marR="0">
              <a:lnSpc>
                <a:spcPts val="623"/>
              </a:lnSpc>
              <a:spcBef>
                <a:spcPts val="5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R: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gas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cloud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342394" y="1526600"/>
            <a:ext cx="1604686" cy="3162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if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(fire_cooldown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!=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0)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return;</a:t>
            </a:r>
          </a:p>
          <a:p>
            <a:pPr marL="210459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if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(ammo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&lt;=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0)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return;</a:t>
            </a:r>
          </a:p>
          <a:p>
            <a:pPr marL="327416" marR="0">
              <a:lnSpc>
                <a:spcPts val="715"/>
              </a:lnSpc>
              <a:spcBef>
                <a:spcPts val="22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spawn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ENT_BULLET;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9867" y="1573348"/>
            <a:ext cx="2073178" cy="222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93496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if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(INPUT_FIRE_DOWN)</a:t>
            </a:r>
            <a:r>
              <a:rPr dirty="0" sz="600" spc="37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bullet(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0,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+8);</a:t>
            </a:r>
          </a:p>
          <a:p>
            <a:pPr marL="0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else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if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(INPUT_FIRE_LEFT)</a:t>
            </a:r>
            <a:r>
              <a:rPr dirty="0" sz="600" spc="37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bullet(-8,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0);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79867" y="1760688"/>
            <a:ext cx="1229991" cy="1289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else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if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(INPUT_FIRE_UP)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944726" y="1760688"/>
            <a:ext cx="770220" cy="1289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bullet(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0,-8);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3646524" y="1807605"/>
            <a:ext cx="969847" cy="222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fire_cooldown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600" spc="16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5;</a:t>
            </a:r>
          </a:p>
          <a:p>
            <a:pPr marL="257207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ammo--;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79867" y="1854359"/>
            <a:ext cx="2073178" cy="12893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else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if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(INPUT_FIRE_RIGHT)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bullet(+8,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0);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977468" y="3074881"/>
            <a:ext cx="1944695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Cooldown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prevents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multi-button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1ring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from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spawning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four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bullets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in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one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frame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06038" y="463777"/>
            <a:ext cx="1425610" cy="54042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27796" y="474825"/>
            <a:ext cx="1388277" cy="496735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2141180" y="463777"/>
            <a:ext cx="1425610" cy="54042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2162938" y="474825"/>
            <a:ext cx="1388277" cy="496735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976321" y="463777"/>
            <a:ext cx="1425610" cy="54042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998079" y="474825"/>
            <a:ext cx="1388277" cy="496735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71660" y="1284866"/>
            <a:ext cx="1596632" cy="819396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92740" y="1295241"/>
            <a:ext cx="1560823" cy="777236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2077261" y="1284866"/>
            <a:ext cx="1596632" cy="819396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2098342" y="1295241"/>
            <a:ext cx="1560822" cy="777236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3782864" y="1284866"/>
            <a:ext cx="1596632" cy="819396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3803944" y="1295241"/>
            <a:ext cx="1560822" cy="777236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96437" y="116634"/>
            <a:ext cx="4906867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1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3">
                <a:solidFill>
                  <a:srgbClr val="ebe7d9"/>
                </a:solidFill>
                <a:latin typeface="TDTWON+NotoSans-Bold"/>
                <a:cs typeface="TDTWON+NotoSans-Bold"/>
              </a:rPr>
              <a:t>AI</a:t>
            </a:r>
            <a:r>
              <a:rPr dirty="0" sz="1400" spc="-8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6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simple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but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intentionally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de-synchronized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25959" y="370237"/>
            <a:ext cx="1987892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Armed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enemies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add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1re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behavior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2">
                <a:solidFill>
                  <a:srgbClr val="afa899"/>
                </a:solidFill>
                <a:latin typeface="LGRJER+NotoSans-Regular"/>
                <a:cs typeface="LGRJER+NotoSans-Regular"/>
              </a:rPr>
              <a:t>on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top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of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movement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72086" y="577943"/>
            <a:ext cx="1025425" cy="332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808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ce7da"/>
                </a:solidFill>
                <a:latin typeface="TDTWON+NotoSans-Bold"/>
                <a:cs typeface="TDTWON+NotoSans-Bold"/>
              </a:rPr>
              <a:t>Vertical</a:t>
            </a:r>
            <a:r>
              <a:rPr dirty="0" sz="800" spc="-44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ce7da"/>
                </a:solidFill>
                <a:latin typeface="TDTWON+NotoSans-Bold"/>
                <a:cs typeface="TDTWON+NotoSans-Bold"/>
              </a:rPr>
              <a:t>pressure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e-&gt;y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steps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toward</a:t>
            </a:r>
            <a:r>
              <a:rPr dirty="0" sz="500" spc="12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player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row</a:t>
            </a:r>
          </a:p>
          <a:p>
            <a:pPr marL="224912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at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1dcd2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speed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409099" y="577943"/>
            <a:ext cx="1022155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Horizontal</a:t>
            </a:r>
            <a:r>
              <a:rPr dirty="0" sz="800" spc="-4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choice</a:t>
            </a:r>
          </a:p>
          <a:p>
            <a:pPr marL="145012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25%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left,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25%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right,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330090" y="577943"/>
            <a:ext cx="830792" cy="332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4681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Armed</a:t>
            </a:r>
            <a:r>
              <a:rPr dirty="0" sz="800" spc="-4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9ring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cooldown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counts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down</a:t>
            </a:r>
          </a:p>
          <a:p>
            <a:pPr marL="121377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then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aims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once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585386" y="782050"/>
            <a:ext cx="631349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50%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chase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player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9766" y="1522754"/>
            <a:ext cx="1320619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r</a:t>
            </a:r>
            <a:r>
              <a:rPr dirty="0" sz="550" spc="1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1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enemy_rng(frame,</a:t>
            </a:r>
            <a:r>
              <a:rPr dirty="0" sz="550" spc="12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phase)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382069" y="1522754"/>
            <a:ext cx="1144313" cy="294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dx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2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player.x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-</a:t>
            </a:r>
            <a:r>
              <a:rPr dirty="0" sz="550" spc="23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enemy.x</a:t>
            </a:r>
          </a:p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dy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2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player.y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-</a:t>
            </a:r>
            <a:r>
              <a:rPr dirty="0" sz="550" spc="23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enemy.y</a:t>
            </a:r>
          </a:p>
          <a:p>
            <a:pPr marL="108291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norm</a:t>
            </a:r>
            <a:r>
              <a:rPr dirty="0" sz="550" spc="13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|dx|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+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1">
                <a:solidFill>
                  <a:srgbClr val="d7d9cc"/>
                </a:solidFill>
                <a:latin typeface="LOKCCI+DejaVuSansMono"/>
                <a:cs typeface="LOKCCI+DejaVuSansMono"/>
              </a:rPr>
              <a:t>|dy|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979380" y="1565934"/>
            <a:ext cx="1363766" cy="294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147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phase</a:t>
            </a:r>
            <a:r>
              <a:rPr dirty="0" sz="550" spc="13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rand()</a:t>
            </a:r>
            <a:r>
              <a:rPr dirty="0" sz="550" spc="14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&amp;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0xff</a:t>
            </a:r>
          </a:p>
          <a:p>
            <a:pPr marL="64769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fire_cd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2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60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+</a:t>
            </a:r>
            <a:r>
              <a:rPr dirty="0" sz="550" spc="23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rand()%120</a:t>
            </a:r>
          </a:p>
          <a:p>
            <a:pPr marL="0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//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avoids</a:t>
            </a:r>
            <a:r>
              <a:rPr dirty="0" sz="550" spc="1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synchronized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waves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32945" y="1609114"/>
            <a:ext cx="1233749" cy="294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521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if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r</a:t>
            </a:r>
            <a:r>
              <a:rPr dirty="0" sz="550" spc="22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&lt;</a:t>
            </a:r>
            <a:r>
              <a:rPr dirty="0" sz="550" spc="1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64:</a:t>
            </a:r>
          </a:p>
          <a:p>
            <a:pPr marL="43521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elif</a:t>
            </a:r>
            <a:r>
              <a:rPr dirty="0" sz="550" spc="13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r</a:t>
            </a:r>
            <a:r>
              <a:rPr dirty="0" sz="550" spc="1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&lt;128: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x</a:t>
            </a:r>
            <a:r>
              <a:rPr dirty="0" sz="550" spc="23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+=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speed</a:t>
            </a:r>
          </a:p>
          <a:p>
            <a:pPr marL="0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else:</a:t>
            </a:r>
            <a:r>
              <a:rPr dirty="0" sz="550" spc="2396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x</a:t>
            </a:r>
            <a:r>
              <a:rPr dirty="0" sz="550" spc="23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→</a:t>
            </a:r>
            <a:r>
              <a:rPr dirty="0" sz="550" spc="1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player.x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238534" y="1609114"/>
            <a:ext cx="537762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x</a:t>
            </a:r>
            <a:r>
              <a:rPr dirty="0" sz="550" spc="23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-=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speed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03659" y="1781833"/>
            <a:ext cx="1094693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v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3</a:t>
            </a:r>
            <a:r>
              <a:rPr dirty="0" sz="550" spc="2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*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(dx,dy)</a:t>
            </a:r>
            <a:r>
              <a:rPr dirty="0" sz="550" spc="14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/</a:t>
            </a:r>
            <a:r>
              <a:rPr dirty="0" sz="550" spc="17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norm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149510" y="3074881"/>
            <a:ext cx="1601146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Enemy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bullets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are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not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homing;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they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lock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direction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5">
                <a:solidFill>
                  <a:srgbClr val="787878"/>
                </a:solidFill>
                <a:latin typeface="LGRJER+NotoSans-Regular"/>
                <a:cs typeface="LGRJER+NotoSans-Regular"/>
              </a:rPr>
              <a:t>at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spawn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time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27628" y="593143"/>
            <a:ext cx="1209544" cy="51883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49386" y="604190"/>
            <a:ext cx="1172378" cy="475151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687792" y="593143"/>
            <a:ext cx="1209544" cy="51883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709550" y="604190"/>
            <a:ext cx="1172378" cy="475151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047955" y="593143"/>
            <a:ext cx="1209544" cy="51883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069713" y="604190"/>
            <a:ext cx="1172379" cy="475151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4408119" y="593143"/>
            <a:ext cx="950465" cy="518835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4429877" y="604190"/>
            <a:ext cx="913300" cy="475151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1953985"/>
            <a:ext cx="5765800" cy="517306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738004" y="1964354"/>
            <a:ext cx="4281324" cy="475151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8369" y="116634"/>
            <a:ext cx="4862982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Motion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updates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are</a:t>
            </a:r>
            <a:r>
              <a:rPr dirty="0" sz="1400" spc="-6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separate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from</a:t>
            </a:r>
            <a:r>
              <a:rPr dirty="0" sz="1400" spc="-5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collision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handling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07692" y="370237"/>
            <a:ext cx="1624733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Each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entity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type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has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one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simple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update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rule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08807" y="696604"/>
            <a:ext cx="761185" cy="332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  <a:r>
              <a:rPr dirty="0" sz="800" spc="-4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bullet</a:t>
            </a:r>
          </a:p>
          <a:p>
            <a:pPr marL="93502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x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+=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vx,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y</a:t>
            </a:r>
            <a:r>
              <a:rPr dirty="0" sz="500" spc="16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+=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vy</a:t>
            </a:r>
          </a:p>
          <a:p>
            <a:pPr marL="18699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despawn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o@-screen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58091" y="696604"/>
            <a:ext cx="782095" cy="332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  <a:r>
              <a:rPr dirty="0" sz="800" spc="-4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bullet</a:t>
            </a:r>
          </a:p>
          <a:p>
            <a:pPr marL="50148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same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motion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path</a:t>
            </a:r>
          </a:p>
          <a:p>
            <a:pPr marL="5781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damages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player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later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353957" y="696604"/>
            <a:ext cx="711817" cy="332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Ammo</a:t>
            </a:r>
            <a:r>
              <a:rPr dirty="0" sz="800" spc="-4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drop</a:t>
            </a:r>
          </a:p>
          <a:p>
            <a:pPr marL="138888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ttl--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until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0</a:t>
            </a:r>
          </a:p>
          <a:p>
            <a:pPr marL="21247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collected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by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AABB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613307" y="696604"/>
            <a:ext cx="653367" cy="3320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4609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Beam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beam_ttl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controls</a:t>
            </a:r>
          </a:p>
          <a:p>
            <a:pPr marL="97580" marR="0">
              <a:lnSpc>
                <a:spcPts val="623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tile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column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0670" y="1546119"/>
            <a:ext cx="4796961" cy="3299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1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This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separation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keeps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behavior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predictable: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movement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1rst,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then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a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single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collision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pass</a:t>
            </a:r>
          </a:p>
          <a:p>
            <a:pPr marL="1696246" marR="0">
              <a:lnSpc>
                <a:spcPts val="1076"/>
              </a:lnSpc>
              <a:spcBef>
                <a:spcPts val="0"/>
              </a:spcBef>
              <a:spcAft>
                <a:spcPts val="0"/>
              </a:spcAft>
            </a:pP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resolves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900">
                <a:solidFill>
                  <a:srgbClr val="ebe7d9"/>
                </a:solidFill>
                <a:latin typeface="LGRJER+NotoSans-Regular"/>
                <a:cs typeface="LGRJER+NotoSans-Regular"/>
              </a:rPr>
              <a:t>consequences.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-23178" y="2170452"/>
            <a:ext cx="5951127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ate_enemies();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update_bullets();</a:t>
            </a:r>
            <a:r>
              <a:rPr dirty="0" sz="550" spc="14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update_enemy_bullets();</a:t>
            </a:r>
            <a:r>
              <a:rPr dirty="0" sz="550" spc="1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update_ammo_drops();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autoatk_tick();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autoatk_update_proj();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handle_collisions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348407" y="3074881"/>
            <a:ext cx="1203424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21">
                <a:solidFill>
                  <a:srgbClr val="777777"/>
                </a:solidFill>
                <a:latin typeface="LGRJER+NotoSans-Regular"/>
                <a:cs typeface="LGRJER+NotoSans-Regular"/>
              </a:rPr>
              <a:t>No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collision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is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applied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during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motion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loops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27796" y="506957"/>
            <a:ext cx="324526" cy="281346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49560" y="518005"/>
            <a:ext cx="287186" cy="237656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716247" y="506957"/>
            <a:ext cx="1339252" cy="281346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738004" y="518005"/>
            <a:ext cx="1301917" cy="237656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1446903" y="594874"/>
            <a:ext cx="104768" cy="98617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2119590" y="506957"/>
            <a:ext cx="3239163" cy="281346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2141348" y="518005"/>
            <a:ext cx="3201828" cy="237656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27796" y="852396"/>
            <a:ext cx="324526" cy="281346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49560" y="863443"/>
            <a:ext cx="287186" cy="237657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716247" y="852396"/>
            <a:ext cx="1339252" cy="281346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738004" y="863443"/>
            <a:ext cx="1301917" cy="237657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1475971" y="940313"/>
            <a:ext cx="104768" cy="98617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2119590" y="852396"/>
            <a:ext cx="3239163" cy="281346"/>
          </a:xfrm>
          <a:prstGeom prst="rect">
            <a:avLst/>
          </a:prstGeom>
          <a:blipFill>
            <a:blip cstate="print" r:embed="rId1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2141348" y="863443"/>
            <a:ext cx="3201828" cy="237657"/>
          </a:xfrm>
          <a:prstGeom prst="rect">
            <a:avLst/>
          </a:prstGeom>
          <a:blipFill>
            <a:blip cstate="print" r:embed="rId1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6" name="object 16"/>
          <p:cNvSpPr/>
          <p:nvPr/>
        </p:nvSpPr>
        <p:spPr>
          <a:xfrm>
            <a:off x="327796" y="1197835"/>
            <a:ext cx="324526" cy="281346"/>
          </a:xfrm>
          <a:prstGeom prst="rect">
            <a:avLst/>
          </a:prstGeom>
          <a:blipFill>
            <a:blip cstate="print" r:embed="rId1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7" name="object 17"/>
          <p:cNvSpPr/>
          <p:nvPr/>
        </p:nvSpPr>
        <p:spPr>
          <a:xfrm>
            <a:off x="349560" y="1208881"/>
            <a:ext cx="287186" cy="237657"/>
          </a:xfrm>
          <a:prstGeom prst="rect">
            <a:avLst/>
          </a:prstGeom>
          <a:blipFill>
            <a:blip cstate="print" r:embed="rId1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8" name="object 18"/>
          <p:cNvSpPr/>
          <p:nvPr/>
        </p:nvSpPr>
        <p:spPr>
          <a:xfrm>
            <a:off x="716247" y="1197835"/>
            <a:ext cx="1339252" cy="281346"/>
          </a:xfrm>
          <a:prstGeom prst="rect">
            <a:avLst/>
          </a:prstGeom>
          <a:blipFill>
            <a:blip cstate="print" r:embed="rId1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9" name="object 19"/>
          <p:cNvSpPr/>
          <p:nvPr/>
        </p:nvSpPr>
        <p:spPr>
          <a:xfrm>
            <a:off x="738004" y="1208881"/>
            <a:ext cx="1301917" cy="237657"/>
          </a:xfrm>
          <a:prstGeom prst="rect">
            <a:avLst/>
          </a:prstGeom>
          <a:blipFill>
            <a:blip cstate="print" r:embed="rId2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0" name="object 20"/>
          <p:cNvSpPr/>
          <p:nvPr/>
        </p:nvSpPr>
        <p:spPr>
          <a:xfrm>
            <a:off x="1341502" y="1285751"/>
            <a:ext cx="104768" cy="98617"/>
          </a:xfrm>
          <a:prstGeom prst="rect">
            <a:avLst/>
          </a:prstGeom>
          <a:blipFill>
            <a:blip cstate="print" r:embed="rId2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1" name="object 21"/>
          <p:cNvSpPr/>
          <p:nvPr/>
        </p:nvSpPr>
        <p:spPr>
          <a:xfrm>
            <a:off x="2119590" y="1197835"/>
            <a:ext cx="3239163" cy="281346"/>
          </a:xfrm>
          <a:prstGeom prst="rect">
            <a:avLst/>
          </a:prstGeom>
          <a:blipFill>
            <a:blip cstate="print" r:embed="rId2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2" name="object 22"/>
          <p:cNvSpPr/>
          <p:nvPr/>
        </p:nvSpPr>
        <p:spPr>
          <a:xfrm>
            <a:off x="2141348" y="1208881"/>
            <a:ext cx="3201828" cy="237657"/>
          </a:xfrm>
          <a:prstGeom prst="rect">
            <a:avLst/>
          </a:prstGeom>
          <a:blipFill>
            <a:blip cstate="print" r:embed="rId2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3" name="object 23"/>
          <p:cNvSpPr/>
          <p:nvPr/>
        </p:nvSpPr>
        <p:spPr>
          <a:xfrm>
            <a:off x="327796" y="1543272"/>
            <a:ext cx="324526" cy="281346"/>
          </a:xfrm>
          <a:prstGeom prst="rect">
            <a:avLst/>
          </a:prstGeom>
          <a:blipFill>
            <a:blip cstate="print" r:embed="rId2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4" name="object 24"/>
          <p:cNvSpPr/>
          <p:nvPr/>
        </p:nvSpPr>
        <p:spPr>
          <a:xfrm>
            <a:off x="349560" y="1554320"/>
            <a:ext cx="287186" cy="237656"/>
          </a:xfrm>
          <a:prstGeom prst="rect">
            <a:avLst/>
          </a:prstGeom>
          <a:blipFill>
            <a:blip cstate="print" r:embed="rId2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5" name="object 25"/>
          <p:cNvSpPr/>
          <p:nvPr/>
        </p:nvSpPr>
        <p:spPr>
          <a:xfrm>
            <a:off x="716247" y="1543272"/>
            <a:ext cx="1339252" cy="281346"/>
          </a:xfrm>
          <a:prstGeom prst="rect">
            <a:avLst/>
          </a:prstGeom>
          <a:blipFill>
            <a:blip cstate="print" r:embed="rId2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6" name="object 26"/>
          <p:cNvSpPr/>
          <p:nvPr/>
        </p:nvSpPr>
        <p:spPr>
          <a:xfrm>
            <a:off x="738004" y="1554320"/>
            <a:ext cx="1301917" cy="237656"/>
          </a:xfrm>
          <a:prstGeom prst="rect">
            <a:avLst/>
          </a:prstGeom>
          <a:blipFill>
            <a:blip cstate="print" r:embed="rId2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7" name="object 27"/>
          <p:cNvSpPr/>
          <p:nvPr/>
        </p:nvSpPr>
        <p:spPr>
          <a:xfrm>
            <a:off x="1456930" y="1631189"/>
            <a:ext cx="104768" cy="98617"/>
          </a:xfrm>
          <a:prstGeom prst="rect">
            <a:avLst/>
          </a:prstGeom>
          <a:blipFill>
            <a:blip cstate="print" r:embed="rId2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8" name="object 28"/>
          <p:cNvSpPr/>
          <p:nvPr/>
        </p:nvSpPr>
        <p:spPr>
          <a:xfrm>
            <a:off x="2119590" y="1543272"/>
            <a:ext cx="3239163" cy="281346"/>
          </a:xfrm>
          <a:prstGeom prst="rect">
            <a:avLst/>
          </a:prstGeom>
          <a:blipFill>
            <a:blip cstate="print" r:embed="rId2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9" name="object 29"/>
          <p:cNvSpPr/>
          <p:nvPr/>
        </p:nvSpPr>
        <p:spPr>
          <a:xfrm>
            <a:off x="2141348" y="1554320"/>
            <a:ext cx="3201828" cy="237656"/>
          </a:xfrm>
          <a:prstGeom prst="rect">
            <a:avLst/>
          </a:prstGeom>
          <a:blipFill>
            <a:blip cstate="print" r:embed="rId3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0" name="object 30"/>
          <p:cNvSpPr/>
          <p:nvPr/>
        </p:nvSpPr>
        <p:spPr>
          <a:xfrm>
            <a:off x="327796" y="1888705"/>
            <a:ext cx="324526" cy="281178"/>
          </a:xfrm>
          <a:prstGeom prst="rect">
            <a:avLst/>
          </a:prstGeom>
          <a:blipFill>
            <a:blip cstate="print" r:embed="rId3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1" name="object 31"/>
          <p:cNvSpPr/>
          <p:nvPr/>
        </p:nvSpPr>
        <p:spPr>
          <a:xfrm>
            <a:off x="349560" y="1899758"/>
            <a:ext cx="287186" cy="237656"/>
          </a:xfrm>
          <a:prstGeom prst="rect">
            <a:avLst/>
          </a:prstGeom>
          <a:blipFill>
            <a:blip cstate="print" r:embed="rId3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2" name="object 32"/>
          <p:cNvSpPr/>
          <p:nvPr/>
        </p:nvSpPr>
        <p:spPr>
          <a:xfrm>
            <a:off x="716247" y="1888711"/>
            <a:ext cx="1339252" cy="281346"/>
          </a:xfrm>
          <a:prstGeom prst="rect">
            <a:avLst/>
          </a:prstGeom>
          <a:blipFill>
            <a:blip cstate="print" r:embed="rId3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3" name="object 33"/>
          <p:cNvSpPr/>
          <p:nvPr/>
        </p:nvSpPr>
        <p:spPr>
          <a:xfrm>
            <a:off x="738004" y="1899758"/>
            <a:ext cx="1301917" cy="237656"/>
          </a:xfrm>
          <a:prstGeom prst="rect">
            <a:avLst/>
          </a:prstGeom>
          <a:blipFill>
            <a:blip cstate="print" r:embed="rId3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4" name="object 34"/>
          <p:cNvSpPr/>
          <p:nvPr/>
        </p:nvSpPr>
        <p:spPr>
          <a:xfrm>
            <a:off x="1816312" y="1926137"/>
            <a:ext cx="104768" cy="98617"/>
          </a:xfrm>
          <a:prstGeom prst="rect">
            <a:avLst/>
          </a:prstGeom>
          <a:blipFill>
            <a:blip cstate="print" r:embed="rId3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5" name="object 35"/>
          <p:cNvSpPr/>
          <p:nvPr/>
        </p:nvSpPr>
        <p:spPr>
          <a:xfrm>
            <a:off x="2119590" y="1888711"/>
            <a:ext cx="3239163" cy="281346"/>
          </a:xfrm>
          <a:prstGeom prst="rect">
            <a:avLst/>
          </a:prstGeom>
          <a:blipFill>
            <a:blip cstate="print" r:embed="rId3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6" name="object 36"/>
          <p:cNvSpPr/>
          <p:nvPr/>
        </p:nvSpPr>
        <p:spPr>
          <a:xfrm>
            <a:off x="2141348" y="1899758"/>
            <a:ext cx="3201828" cy="237656"/>
          </a:xfrm>
          <a:prstGeom prst="rect">
            <a:avLst/>
          </a:prstGeom>
          <a:blipFill>
            <a:blip cstate="print" r:embed="rId3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578887" y="116634"/>
            <a:ext cx="4742474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Collision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handling</a:t>
            </a:r>
            <a:r>
              <a:rPr dirty="0" sz="1400" spc="-7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ordered</a:t>
            </a:r>
            <a:r>
              <a:rPr dirty="0" sz="1400" spc="-6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-19">
                <a:solidFill>
                  <a:srgbClr val="ebe7d9"/>
                </a:solidFill>
                <a:latin typeface="TDTWON+NotoSans-Bold"/>
                <a:cs typeface="TDTWON+NotoSans-Bold"/>
              </a:rPr>
              <a:t>by</a:t>
            </a:r>
            <a:r>
              <a:rPr dirty="0" sz="1400" spc="-4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gameplay</a:t>
            </a:r>
            <a:r>
              <a:rPr dirty="0" sz="1400" spc="-7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meaning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728423" y="370237"/>
            <a:ext cx="2381755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handle_collisions()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owns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damage,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pickups,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score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bookkeeping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59207" y="566822"/>
            <a:ext cx="214147" cy="1566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1</a:t>
            </a:r>
          </a:p>
          <a:p>
            <a:pPr marL="0" marR="0">
              <a:lnSpc>
                <a:spcPts val="1157"/>
              </a:lnSpc>
              <a:spcBef>
                <a:spcPts val="1512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2</a:t>
            </a:r>
          </a:p>
          <a:p>
            <a:pPr marL="0" marR="0">
              <a:lnSpc>
                <a:spcPts val="1157"/>
              </a:lnSpc>
              <a:spcBef>
                <a:spcPts val="1512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3</a:t>
            </a:r>
          </a:p>
          <a:p>
            <a:pPr marL="0" marR="0">
              <a:lnSpc>
                <a:spcPts val="1157"/>
              </a:lnSpc>
              <a:spcBef>
                <a:spcPts val="1512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4</a:t>
            </a:r>
          </a:p>
          <a:p>
            <a:pPr marL="0" marR="0">
              <a:lnSpc>
                <a:spcPts val="1157"/>
              </a:lnSpc>
              <a:spcBef>
                <a:spcPts val="1512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5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903077" y="582929"/>
            <a:ext cx="673801" cy="8433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9236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 spc="10">
                <a:solidFill>
                  <a:srgbClr val="ebe7d9"/>
                </a:solidFill>
                <a:latin typeface="TDTWON+NotoSans-Bold"/>
                <a:cs typeface="TDTWON+NotoSans-Bold"/>
              </a:rPr>
              <a:t>Ammo</a:t>
            </a:r>
            <a:r>
              <a:rPr dirty="0" sz="650" spc="-3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drop</a:t>
            </a:r>
          </a:p>
          <a:p>
            <a:pPr marL="0" marR="0">
              <a:lnSpc>
                <a:spcPts val="900"/>
              </a:lnSpc>
              <a:spcBef>
                <a:spcPts val="1819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  <a:r>
              <a:rPr dirty="0" sz="650" spc="-3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bullet</a:t>
            </a:r>
          </a:p>
          <a:p>
            <a:pPr marL="133959" marR="0">
              <a:lnSpc>
                <a:spcPts val="900"/>
              </a:lnSpc>
              <a:spcBef>
                <a:spcPts val="1819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1573239" y="582929"/>
            <a:ext cx="417990" cy="49791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</a:p>
          <a:p>
            <a:pPr marL="28876" marR="0">
              <a:lnSpc>
                <a:spcPts val="900"/>
              </a:lnSpc>
              <a:spcBef>
                <a:spcPts val="1819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978598" y="586908"/>
            <a:ext cx="1673273" cy="4898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36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 spc="10">
                <a:solidFill>
                  <a:srgbClr val="ece7da"/>
                </a:solidFill>
                <a:latin typeface="TDTWON+NotoSans-Bold"/>
                <a:cs typeface="TDTWON+NotoSans-Bold"/>
              </a:rPr>
              <a:t>ammo</a:t>
            </a:r>
            <a:r>
              <a:rPr dirty="0" sz="600" spc="-33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+=</a:t>
            </a:r>
            <a:r>
              <a:rPr dirty="0" sz="600" spc="-36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10,</a:t>
            </a:r>
            <a:r>
              <a:rPr dirty="0" sz="600" spc="-35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cap</a:t>
            </a:r>
            <a:r>
              <a:rPr dirty="0" sz="600" spc="-33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at</a:t>
            </a:r>
            <a:r>
              <a:rPr dirty="0" sz="600" spc="-33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UAGHMQ+NotoSans-Bold"/>
                <a:cs typeface="UAGHMQ+NotoSans-Bold"/>
              </a:rPr>
              <a:t>99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,</a:t>
            </a:r>
            <a:r>
              <a:rPr dirty="0" sz="600" spc="-27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drop</a:t>
            </a:r>
            <a:r>
              <a:rPr dirty="0" sz="600" spc="-27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ce7da"/>
                </a:solidFill>
                <a:latin typeface="TDTWON+NotoSans-Bold"/>
                <a:cs typeface="TDTWON+NotoSans-Bold"/>
              </a:rPr>
              <a:t>disappears</a:t>
            </a:r>
          </a:p>
          <a:p>
            <a:pPr marL="129875" marR="0">
              <a:lnSpc>
                <a:spcPts val="836"/>
              </a:lnSpc>
              <a:spcBef>
                <a:spcPts val="1933"/>
              </a:spcBef>
              <a:spcAft>
                <a:spcPts val="0"/>
              </a:spcAft>
            </a:pP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  <a:r>
              <a:rPr dirty="0" sz="600" spc="-3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 spc="11">
                <a:solidFill>
                  <a:srgbClr val="ebe7d9"/>
                </a:solidFill>
                <a:latin typeface="TDTWON+NotoSans-Bold"/>
                <a:cs typeface="TDTWON+NotoSans-Bold"/>
              </a:rPr>
              <a:t>HP</a:t>
            </a:r>
            <a:r>
              <a:rPr dirty="0" sz="600" spc="-3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KVKICI+DejaVuSans-Bold"/>
                <a:cs typeface="KVKICI+DejaVuSans-Bold"/>
              </a:rPr>
              <a:t>−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10,</a:t>
            </a:r>
            <a:r>
              <a:rPr dirty="0" sz="600" spc="-4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bullet</a:t>
            </a:r>
            <a:r>
              <a:rPr dirty="0" sz="600" spc="-3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disappears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1467847" y="1273806"/>
            <a:ext cx="389113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2752666" y="1277784"/>
            <a:ext cx="2126234" cy="83525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3678" marR="0">
              <a:lnSpc>
                <a:spcPts val="836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  <a:r>
              <a:rPr dirty="0" sz="600" spc="-3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 spc="11">
                <a:solidFill>
                  <a:srgbClr val="ebe7d9"/>
                </a:solidFill>
                <a:latin typeface="TDTWON+NotoSans-Bold"/>
                <a:cs typeface="TDTWON+NotoSans-Bold"/>
              </a:rPr>
              <a:t>HP</a:t>
            </a:r>
            <a:r>
              <a:rPr dirty="0" sz="600" spc="-3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KVKICI+DejaVuSans-Bold"/>
                <a:cs typeface="KVKICI+DejaVuSans-Bold"/>
              </a:rPr>
              <a:t>−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10,</a:t>
            </a:r>
            <a:r>
              <a:rPr dirty="0" sz="600" spc="-4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  <a:r>
              <a:rPr dirty="0" sz="600" spc="-3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disappears,</a:t>
            </a:r>
            <a:r>
              <a:rPr dirty="0" sz="600" spc="-3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no</a:t>
            </a:r>
            <a:r>
              <a:rPr dirty="0" sz="600" spc="-3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score</a:t>
            </a:r>
          </a:p>
          <a:p>
            <a:pPr marL="149599" marR="0">
              <a:lnSpc>
                <a:spcPts val="836"/>
              </a:lnSpc>
              <a:spcBef>
                <a:spcPts val="1933"/>
              </a:spcBef>
              <a:spcAft>
                <a:spcPts val="0"/>
              </a:spcAft>
            </a:pP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bullet</a:t>
            </a:r>
            <a:r>
              <a:rPr dirty="0" sz="600" spc="-3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disappears,</a:t>
            </a:r>
            <a:r>
              <a:rPr dirty="0" sz="600" spc="-3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apply_damage(enemy,</a:t>
            </a:r>
            <a:r>
              <a:rPr dirty="0" sz="600" spc="-3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1)</a:t>
            </a:r>
          </a:p>
          <a:p>
            <a:pPr marL="0" marR="0">
              <a:lnSpc>
                <a:spcPts val="836"/>
              </a:lnSpc>
              <a:spcBef>
                <a:spcPts val="1883"/>
              </a:spcBef>
              <a:spcAft>
                <a:spcPts val="0"/>
              </a:spcAft>
            </a:pP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damage</a:t>
            </a:r>
            <a:r>
              <a:rPr dirty="0" sz="600" spc="-3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+</a:t>
            </a:r>
            <a:r>
              <a:rPr dirty="0" sz="600" spc="-2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optional</a:t>
            </a:r>
            <a:r>
              <a:rPr dirty="0" sz="600" spc="-3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despawn</a:t>
            </a:r>
            <a:r>
              <a:rPr dirty="0" sz="600" spc="-3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policy</a:t>
            </a:r>
            <a:r>
              <a:rPr dirty="0" sz="600" spc="-2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by</a:t>
            </a:r>
            <a:r>
              <a:rPr dirty="0" sz="600" spc="-2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weapon</a:t>
            </a:r>
            <a:r>
              <a:rPr dirty="0" sz="600" spc="-3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00">
                <a:solidFill>
                  <a:srgbClr val="ebe7d9"/>
                </a:solidFill>
                <a:latin typeface="TDTWON+NotoSans-Bold"/>
                <a:cs typeface="TDTWON+NotoSans-Bold"/>
              </a:rPr>
              <a:t>kind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902058" y="1619244"/>
            <a:ext cx="656418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Player</a:t>
            </a:r>
            <a:r>
              <a:rPr dirty="0" sz="650" spc="-3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bullet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1583545" y="1619244"/>
            <a:ext cx="408932" cy="1524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849864" y="1914192"/>
            <a:ext cx="1085509" cy="2532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Auto</a:t>
            </a:r>
            <a:r>
              <a:rPr dirty="0" sz="650" spc="-3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hazard/projectile</a:t>
            </a:r>
          </a:p>
          <a:p>
            <a:pPr marL="393379" marR="0">
              <a:lnSpc>
                <a:spcPts val="793"/>
              </a:lnSpc>
              <a:spcBef>
                <a:spcPts val="0"/>
              </a:spcBef>
              <a:spcAft>
                <a:spcPts val="0"/>
              </a:spcAft>
            </a:pPr>
            <a:r>
              <a:rPr dirty="0" sz="65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591805" y="2691801"/>
            <a:ext cx="4713275" cy="168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All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enemy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kills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route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through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apply_damage()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so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score,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kill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counters,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ammo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drops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stay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750">
                <a:solidFill>
                  <a:srgbClr val="ebe7d9"/>
                </a:solidFill>
                <a:latin typeface="LGRJER+NotoSans-Regular"/>
                <a:cs typeface="LGRJER+NotoSans-Regular"/>
              </a:rPr>
              <a:t>consistent.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170080" y="3074881"/>
            <a:ext cx="1559676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AABB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is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AVVDN+NotoSans-Regular"/>
                <a:cs typeface="LAVVDN+NotoSans-Regular"/>
              </a:rPr>
              <a:t>1</a:t>
            </a: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6×</a:t>
            </a:r>
            <a:r>
              <a:rPr dirty="0" sz="400">
                <a:solidFill>
                  <a:srgbClr val="787878"/>
                </a:solidFill>
                <a:latin typeface="LAVVDN+NotoSans-Regular"/>
                <a:cs typeface="LAVVDN+NotoSans-Regular"/>
              </a:rPr>
              <a:t>1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6</a:t>
            </a:r>
            <a:r>
              <a:rPr dirty="0" sz="400" spc="-21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for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normal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entities;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gas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uses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size-aware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overlap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023644" y="740188"/>
            <a:ext cx="49812" cy="156110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048465" y="755661"/>
            <a:ext cx="12700" cy="1511293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3350214" y="506784"/>
            <a:ext cx="1684689" cy="346116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3372145" y="518005"/>
            <a:ext cx="1647182" cy="302258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350214" y="938581"/>
            <a:ext cx="1684689" cy="346116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372145" y="949802"/>
            <a:ext cx="1647182" cy="302258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350214" y="1370380"/>
            <a:ext cx="1684689" cy="346116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372145" y="1381601"/>
            <a:ext cx="1647182" cy="302259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350214" y="1802178"/>
            <a:ext cx="1684689" cy="346116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3372145" y="1813398"/>
            <a:ext cx="1647182" cy="302258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39592" y="116634"/>
            <a:ext cx="3021736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wave.c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</a:t>
            </a:r>
            <a:r>
              <a:rPr dirty="0" sz="1400" spc="-6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data-driven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spawner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87721" y="370237"/>
            <a:ext cx="1265100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Di</a:t>
            </a:r>
            <a:r>
              <a:rPr dirty="0" sz="550" spc="12">
                <a:solidFill>
                  <a:srgbClr val="afa999"/>
                </a:solidFill>
                <a:latin typeface="LAVVDN+NotoSans-Regular"/>
                <a:cs typeface="LAVVDN+NotoSans-Regular"/>
              </a:rPr>
              <a:t>P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culty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lives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in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WAVES</a:t>
            </a:r>
            <a:r>
              <a:rPr dirty="0" sz="550" spc="14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table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35" y="561488"/>
            <a:ext cx="301167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Wave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73364" y="561488"/>
            <a:ext cx="337411" cy="355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period</a:t>
            </a:r>
          </a:p>
          <a:p>
            <a:pPr marL="75144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60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192076" y="561488"/>
            <a:ext cx="277076" cy="35551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total</a:t>
            </a:r>
          </a:p>
          <a:p>
            <a:pPr marL="65615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6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49413" y="561488"/>
            <a:ext cx="339496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ebe7d9"/>
                </a:solidFill>
                <a:latin typeface="TDTWON+NotoSans-Bold"/>
                <a:cs typeface="TDTWON+NotoSans-Bold"/>
              </a:rPr>
              <a:t>armed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900291" y="561488"/>
            <a:ext cx="457720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ebe7d9"/>
                </a:solidFill>
                <a:latin typeface="TDTWON+NotoSans-Bold"/>
                <a:cs typeface="TDTWON+NotoSans-Bold"/>
              </a:rPr>
              <a:t>armed</a:t>
            </a:r>
            <a:r>
              <a:rPr dirty="0" sz="550" spc="-2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550" spc="10">
                <a:solidFill>
                  <a:srgbClr val="ebe7d9"/>
                </a:solidFill>
                <a:latin typeface="TDTWON+NotoSans-Bold"/>
                <a:cs typeface="TDTWON+NotoSans-Bold"/>
              </a:rPr>
              <a:t>HP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381391" y="561488"/>
            <a:ext cx="316556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speed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925321" y="567487"/>
            <a:ext cx="678061" cy="16868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wave_tick()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696504" y="684643"/>
            <a:ext cx="1138822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cd2"/>
                </a:solidFill>
                <a:latin typeface="LGRJER+NotoSans-Regular"/>
                <a:cs typeface="LGRJER+NotoSans-Regular"/>
              </a:rPr>
              <a:t>spawn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cd2"/>
                </a:solidFill>
                <a:latin typeface="LGRJER+NotoSans-Regular"/>
                <a:cs typeface="LGRJER+NotoSans-Regular"/>
              </a:rPr>
              <a:t>when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cooldown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hits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zero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02045" y="780955"/>
            <a:ext cx="145908" cy="35551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646309" y="780955"/>
            <a:ext cx="145908" cy="1013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0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5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4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6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56517" y="780955"/>
            <a:ext cx="145908" cy="1013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5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3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466725" y="780955"/>
            <a:ext cx="145908" cy="1013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5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3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48509" y="1000422"/>
            <a:ext cx="187042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50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257691" y="1000422"/>
            <a:ext cx="145908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8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3841510" y="999285"/>
            <a:ext cx="819264" cy="24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3521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alloc_entity()</a:t>
            </a:r>
          </a:p>
          <a:p>
            <a:pPr marL="0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1nd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inactive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entity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slot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502045" y="1219896"/>
            <a:ext cx="145908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3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48509" y="1219896"/>
            <a:ext cx="187042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45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237127" y="1219896"/>
            <a:ext cx="187042" cy="5749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0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</a:t>
            </a:r>
          </a:p>
          <a:p>
            <a:pPr marL="0" marR="0">
              <a:lnSpc>
                <a:spcPts val="771"/>
              </a:lnSpc>
              <a:spcBef>
                <a:spcPts val="906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6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502045" y="1439363"/>
            <a:ext cx="145908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4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48509" y="1439363"/>
            <a:ext cx="187042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35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3811932" y="1431083"/>
            <a:ext cx="878217" cy="24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initialize</a:t>
            </a:r>
            <a:r>
              <a:rPr dirty="0" sz="750" spc="-4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enemy</a:t>
            </a:r>
          </a:p>
          <a:p>
            <a:pPr marL="23796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kind,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1dbd1"/>
                </a:solidFill>
                <a:latin typeface="LGRJER+NotoSans-Regular"/>
                <a:cs typeface="LGRJER+NotoSans-Regular"/>
              </a:rPr>
              <a:t>hp,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phase,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1re_cd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81480" y="1658830"/>
            <a:ext cx="187042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5+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48509" y="1658830"/>
            <a:ext cx="187042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25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791530" y="1862881"/>
            <a:ext cx="923747" cy="245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28"/>
              </a:lnSpc>
              <a:spcBef>
                <a:spcPts val="0"/>
              </a:spcBef>
              <a:spcAft>
                <a:spcPts val="0"/>
              </a:spcAft>
            </a:pPr>
            <a:r>
              <a:rPr dirty="0" sz="750">
                <a:solidFill>
                  <a:srgbClr val="ebe7d9"/>
                </a:solidFill>
                <a:latin typeface="TDTWON+NotoSans-Bold"/>
                <a:cs typeface="TDTWON+NotoSans-Bold"/>
              </a:rPr>
              <a:t>wave_complete()</a:t>
            </a:r>
          </a:p>
          <a:p>
            <a:pPr marL="20912" marR="0">
              <a:lnSpc>
                <a:spcPts val="670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spawned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all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+</a:t>
            </a:r>
            <a:r>
              <a:rPr dirty="0" sz="500" spc="19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none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alive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308460" y="3074881"/>
            <a:ext cx="1283916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8">
                <a:solidFill>
                  <a:srgbClr val="777777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5</a:t>
            </a:r>
            <a:r>
              <a:rPr dirty="0" sz="400" spc="-16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clamps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repeats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as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hardest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pattern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27628" y="593143"/>
            <a:ext cx="1123352" cy="47565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49560" y="604364"/>
            <a:ext cx="1085845" cy="431798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490760" y="804958"/>
            <a:ext cx="481610" cy="49812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515583" y="820431"/>
            <a:ext cx="431797" cy="12700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1925280" y="593143"/>
            <a:ext cx="1123352" cy="47565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1947212" y="604364"/>
            <a:ext cx="1085845" cy="431798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3088412" y="804958"/>
            <a:ext cx="481436" cy="49812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113235" y="820431"/>
            <a:ext cx="431629" cy="12700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522934" y="593143"/>
            <a:ext cx="1123352" cy="475655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3544865" y="604364"/>
            <a:ext cx="1085845" cy="431798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544379" y="1328045"/>
            <a:ext cx="2071611" cy="689857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3" name="object 13"/>
          <p:cNvSpPr/>
          <p:nvPr/>
        </p:nvSpPr>
        <p:spPr>
          <a:xfrm>
            <a:off x="565459" y="1338421"/>
            <a:ext cx="2035800" cy="647696"/>
          </a:xfrm>
          <a:prstGeom prst="rect">
            <a:avLst/>
          </a:prstGeom>
          <a:blipFill>
            <a:blip cstate="print" r:embed="rId1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/>
          <p:nvPr/>
        </p:nvSpPr>
        <p:spPr>
          <a:xfrm>
            <a:off x="3005627" y="1328045"/>
            <a:ext cx="2071611" cy="689857"/>
          </a:xfrm>
          <a:prstGeom prst="rect">
            <a:avLst/>
          </a:prstGeom>
          <a:blipFill>
            <a:blip cstate="print" r:embed="rId1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5" name="object 15"/>
          <p:cNvSpPr/>
          <p:nvPr/>
        </p:nvSpPr>
        <p:spPr>
          <a:xfrm>
            <a:off x="3026708" y="1338421"/>
            <a:ext cx="2035800" cy="647696"/>
          </a:xfrm>
          <a:prstGeom prst="rect">
            <a:avLst/>
          </a:prstGeom>
          <a:blipFill>
            <a:blip cstate="print" r:embed="rId1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40759" y="116634"/>
            <a:ext cx="5418754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Level-up</a:t>
            </a:r>
            <a:r>
              <a:rPr dirty="0" sz="1400" spc="-7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pauses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the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simulation</a:t>
            </a:r>
            <a:r>
              <a:rPr dirty="0" sz="1400" spc="-7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before</a:t>
            </a:r>
            <a:r>
              <a:rPr dirty="0" sz="1400" spc="-7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advancing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the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1">
                <a:solidFill>
                  <a:srgbClr val="ebe7d9"/>
                </a:solidFill>
                <a:latin typeface="TDTWON+NotoSans-Bold"/>
                <a:cs typeface="TDTWON+NotoSans-Bold"/>
              </a:rPr>
              <a:t>wave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94090" y="370237"/>
            <a:ext cx="1651988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upgrade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2">
                <a:solidFill>
                  <a:srgbClr val="afa899"/>
                </a:solidFill>
                <a:latin typeface="LGRJER+NotoSans-Regular"/>
                <a:cs typeface="LGRJER+NotoSans-Regular"/>
              </a:rPr>
              <a:t>menu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still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part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of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game_tick()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1246" y="714625"/>
            <a:ext cx="983445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wave_complete()</a:t>
            </a:r>
          </a:p>
          <a:p>
            <a:pPr marL="111859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PLAYING</a:t>
            </a:r>
            <a:r>
              <a:rPr dirty="0" sz="500" spc="18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LEVELUP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59369" y="714625"/>
            <a:ext cx="777789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15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ce7da"/>
                </a:solidFill>
                <a:latin typeface="TDTWON+NotoSans-Bold"/>
                <a:cs typeface="TDTWON+NotoSans-Bold"/>
              </a:rPr>
              <a:t>pick</a:t>
            </a:r>
            <a:r>
              <a:rPr dirty="0" sz="800" spc="-44">
                <a:solidFill>
                  <a:srgbClr val="ece7da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ce7da"/>
                </a:solidFill>
                <a:latin typeface="TDTWON+NotoSans-Bold"/>
                <a:cs typeface="TDTWON+NotoSans-Bold"/>
              </a:rPr>
              <a:t>options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3</a:t>
            </a:r>
            <a:r>
              <a:rPr dirty="0" sz="500" spc="15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auto-attack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cd2"/>
                </a:solidFill>
                <a:latin typeface="LGRJER+NotoSans-Regular"/>
                <a:cs typeface="LGRJER+NotoSans-Regular"/>
              </a:rPr>
              <a:t>choices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92594" y="714625"/>
            <a:ext cx="906538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1866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B</a:t>
            </a:r>
            <a:r>
              <a:rPr dirty="0" sz="800" spc="-4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con9rms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upgrade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+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wave_advance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29448" y="1501164"/>
            <a:ext cx="1144313" cy="294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6983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if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LEVELUP:</a:t>
            </a:r>
          </a:p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LEFT/RIGHT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moves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cursor</a:t>
            </a:r>
          </a:p>
          <a:p>
            <a:pPr marL="130222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B</a:t>
            </a:r>
            <a:r>
              <a:rPr dirty="0" sz="550" spc="1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confirms</a:t>
            </a:r>
            <a:r>
              <a:rPr dirty="0" sz="55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option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655808" y="1501164"/>
            <a:ext cx="995454" cy="38088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5176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wave_advance():</a:t>
            </a:r>
          </a:p>
          <a:p>
            <a:pPr marL="173397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wave_index++</a:t>
            </a:r>
          </a:p>
          <a:p>
            <a:pPr marL="0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reset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spawn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counters</a:t>
            </a:r>
          </a:p>
          <a:p>
            <a:pPr marL="21589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refill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ammo/charges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172970" y="1760243"/>
            <a:ext cx="1045571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acd"/>
                </a:solidFill>
                <a:latin typeface="LOKCCI+DejaVuSansMono"/>
                <a:cs typeface="LOKCCI+DejaVuSansMono"/>
              </a:rPr>
              <a:t>autoatk_upgrade(kind)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84875" y="2323766"/>
            <a:ext cx="4887064" cy="3146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Important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detail: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wave_advance()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happens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after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player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picks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an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upgrade,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not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immediately</a:t>
            </a:r>
          </a:p>
          <a:p>
            <a:pPr marL="1836676" marR="0"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when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850">
                <a:solidFill>
                  <a:srgbClr val="ebe7d9"/>
                </a:solidFill>
                <a:latin typeface="LGRJER+NotoSans-Regular"/>
                <a:cs typeface="LGRJER+NotoSans-Regular"/>
              </a:rPr>
              <a:t>ends.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276501" y="3074881"/>
            <a:ext cx="1347296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Level-up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is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not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a</a:t>
            </a:r>
            <a:r>
              <a:rPr dirty="0" sz="400" spc="-17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separate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program;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it</a:t>
            </a:r>
            <a:r>
              <a:rPr dirty="0" sz="400" spc="-15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is</a:t>
            </a:r>
            <a:r>
              <a:rPr dirty="0" sz="400" spc="-18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a</a:t>
            </a:r>
            <a:r>
              <a:rPr dirty="0" sz="400" spc="-17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5">
                <a:solidFill>
                  <a:srgbClr val="787878"/>
                </a:solidFill>
                <a:latin typeface="LGRJER+NotoSans-Regular"/>
                <a:cs typeface="LGRJER+NotoSans-Regular"/>
              </a:rPr>
              <a:t>game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87878"/>
                </a:solidFill>
                <a:latin typeface="LGRJER+NotoSans-Regular"/>
                <a:cs typeface="LGRJER+NotoSans-Regular"/>
              </a:rPr>
              <a:t>state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198599" y="496408"/>
            <a:ext cx="2331541" cy="133840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2680928" y="420598"/>
            <a:ext cx="993813" cy="410885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2702685" y="431644"/>
            <a:ext cx="956479" cy="367196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3803603" y="420598"/>
            <a:ext cx="1296072" cy="410885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825360" y="431644"/>
            <a:ext cx="1258737" cy="367196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2680928" y="917165"/>
            <a:ext cx="993813" cy="410885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2702685" y="928212"/>
            <a:ext cx="956479" cy="367196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3803603" y="917165"/>
            <a:ext cx="1295904" cy="410885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0" name="object 10"/>
          <p:cNvSpPr/>
          <p:nvPr/>
        </p:nvSpPr>
        <p:spPr>
          <a:xfrm>
            <a:off x="3825360" y="928212"/>
            <a:ext cx="1258737" cy="367196"/>
          </a:xfrm>
          <a:prstGeom prst="rect">
            <a:avLst/>
          </a:prstGeom>
          <a:blipFill>
            <a:blip cstate="print" r:embed="rId11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/>
          <p:nvPr/>
        </p:nvSpPr>
        <p:spPr>
          <a:xfrm>
            <a:off x="2746549" y="1522355"/>
            <a:ext cx="2287510" cy="819396"/>
          </a:xfrm>
          <a:prstGeom prst="rect">
            <a:avLst/>
          </a:prstGeom>
          <a:blipFill>
            <a:blip cstate="print" r:embed="rId1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2" name="object 12"/>
          <p:cNvSpPr/>
          <p:nvPr/>
        </p:nvSpPr>
        <p:spPr>
          <a:xfrm>
            <a:off x="2767629" y="1532729"/>
            <a:ext cx="2251699" cy="777236"/>
          </a:xfrm>
          <a:prstGeom prst="rect">
            <a:avLst/>
          </a:prstGeom>
          <a:blipFill>
            <a:blip cstate="print" r:embed="rId1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8967" y="116634"/>
            <a:ext cx="4801468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-16">
                <a:solidFill>
                  <a:srgbClr val="ebe7d9"/>
                </a:solidFill>
                <a:latin typeface="TDTWON+NotoSans-Bold"/>
                <a:cs typeface="TDTWON+NotoSans-Bold"/>
              </a:rPr>
              <a:t>render.c</a:t>
            </a:r>
            <a:r>
              <a:rPr dirty="0" sz="1400" spc="-5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converts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entities</a:t>
            </a:r>
            <a:r>
              <a:rPr dirty="0" sz="1400" spc="-7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into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hardware</a:t>
            </a:r>
            <a:r>
              <a:rPr dirty="0" sz="1400" spc="-6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sprite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slots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823790" y="370237"/>
            <a:ext cx="2191331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This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550" spc="15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bridge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from</a:t>
            </a:r>
            <a:r>
              <a:rPr dirty="0" sz="550" spc="14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gameplay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state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to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VGA-visible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objects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968223" y="509605"/>
            <a:ext cx="542125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2254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slot</a:t>
            </a:r>
            <a:r>
              <a:rPr dirty="0" sz="800" spc="-4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0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always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player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115720" y="509605"/>
            <a:ext cx="794477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9249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slots</a:t>
            </a:r>
            <a:r>
              <a:rPr dirty="0" sz="800" spc="-4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1–31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entities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in</a:t>
            </a:r>
            <a:r>
              <a:rPr dirty="0" sz="500" spc="14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array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order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800440" y="1006173"/>
            <a:ext cx="876857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00806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gas</a:t>
            </a:r>
            <a:r>
              <a:rPr dirty="0" sz="800" spc="-42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hazard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expands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into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–4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sprites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117423" y="1006173"/>
            <a:ext cx="791518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leftover</a:t>
            </a:r>
            <a:r>
              <a:rPr dirty="0" sz="800" spc="-4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slots</a:t>
            </a:r>
          </a:p>
          <a:p>
            <a:pPr marL="67654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nml_hide_sprite()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244988" y="1760243"/>
            <a:ext cx="1450061" cy="121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emit_sprite(&amp;slot,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e-&gt;x,</a:t>
            </a:r>
            <a:r>
              <a:rPr dirty="0" sz="550" spc="1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550">
                <a:solidFill>
                  <a:srgbClr val="d7d9cc"/>
                </a:solidFill>
                <a:latin typeface="LOKCCI+DejaVuSansMono"/>
                <a:cs typeface="LOKCCI+DejaVuSansMono"/>
              </a:rPr>
              <a:t>e-&gt;y,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655442" y="1846603"/>
            <a:ext cx="1145150" cy="2945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entity_to_sprite_id(e),</a:t>
            </a:r>
          </a:p>
          <a:p>
            <a:pPr marL="22105" marR="0">
              <a:lnSpc>
                <a:spcPts val="659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entity_palette_off(e),</a:t>
            </a:r>
          </a:p>
          <a:p>
            <a:pPr marL="281861" marR="0">
              <a:lnSpc>
                <a:spcPts val="659"/>
              </a:lnSpc>
              <a:spcBef>
                <a:spcPts val="20"/>
              </a:spcBef>
              <a:spcAft>
                <a:spcPts val="0"/>
              </a:spcAft>
            </a:pPr>
            <a:r>
              <a:rPr dirty="0" sz="550" spc="10">
                <a:solidFill>
                  <a:srgbClr val="d7d9cc"/>
                </a:solidFill>
                <a:latin typeface="LOKCCI+DejaVuSansMono"/>
                <a:cs typeface="LOKCCI+DejaVuSansMono"/>
              </a:rPr>
              <a:t>priority);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37179" y="3074881"/>
            <a:ext cx="2025381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5">
                <a:solidFill>
                  <a:srgbClr val="777777"/>
                </a:solidFill>
                <a:latin typeface="LGRJER+NotoSans-Regular"/>
                <a:cs typeface="LGRJER+NotoSans-Regular"/>
              </a:rPr>
              <a:t>Mock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renderer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mirrors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this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8">
                <a:solidFill>
                  <a:srgbClr val="777777"/>
                </a:solidFill>
                <a:latin typeface="LGRJER+NotoSans-Regular"/>
                <a:cs typeface="LGRJER+NotoSans-Regular"/>
              </a:rPr>
              <a:t>ꢀow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but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prints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slot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contents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instead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of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writing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registers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026534" y="528373"/>
            <a:ext cx="2310796" cy="47565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048465" y="539594"/>
            <a:ext cx="2273289" cy="431798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3026534" y="1132890"/>
            <a:ext cx="2310796" cy="47565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3048465" y="1144112"/>
            <a:ext cx="2273289" cy="431798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026534" y="1737408"/>
            <a:ext cx="2310796" cy="475487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048465" y="1748628"/>
            <a:ext cx="2273289" cy="431798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47179" y="116634"/>
            <a:ext cx="5205079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nml_gpu.c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packs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C</a:t>
            </a:r>
            <a:r>
              <a:rPr dirty="0" sz="1400" spc="-6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structures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into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Avalon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register</a:t>
            </a:r>
            <a:r>
              <a:rPr dirty="0" sz="1400" spc="-7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writes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53962" y="370237"/>
            <a:ext cx="2530973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program</a:t>
            </a:r>
            <a:r>
              <a:rPr dirty="0" sz="550" spc="12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writes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a</a:t>
            </a:r>
            <a:r>
              <a:rPr dirty="0" sz="550" spc="13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AVVDN+NotoSans-Regular"/>
                <a:cs typeface="LAVVDN+NotoSans-Regular"/>
              </a:rPr>
              <a:t>1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6</a:t>
            </a:r>
            <a:r>
              <a:rPr dirty="0" sz="550" spc="17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1">
                <a:solidFill>
                  <a:srgbClr val="afa899"/>
                </a:solidFill>
                <a:latin typeface="LGRJER+NotoSans-Regular"/>
                <a:cs typeface="LGRJER+NotoSans-Regular"/>
              </a:rPr>
              <a:t>KB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LW</a:t>
            </a:r>
            <a:r>
              <a:rPr dirty="0" sz="550" spc="24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bridge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window</a:t>
            </a:r>
            <a:r>
              <a:rPr dirty="0" sz="550" spc="13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mapped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at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0xFF200000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04935" y="496421"/>
            <a:ext cx="273038" cy="111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TDTWON+NotoSans-Bold"/>
                <a:cs typeface="TDTWON+NotoSans-Bold"/>
              </a:rPr>
              <a:t>Region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78855" y="496421"/>
            <a:ext cx="268930" cy="199124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8162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7">
                <a:solidFill>
                  <a:srgbClr val="ebe7d9"/>
                </a:solidFill>
                <a:latin typeface="TDTWON+NotoSans-Bold"/>
                <a:cs typeface="TDTWON+NotoSans-Bold"/>
              </a:rPr>
              <a:t>ODset</a:t>
            </a:r>
          </a:p>
          <a:p>
            <a:pPr marL="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0x0000</a:t>
            </a:r>
          </a:p>
          <a:p>
            <a:pPr marL="0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0x00</a:t>
            </a:r>
            <a:r>
              <a:rPr dirty="0" sz="450" spc="-14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0</a:t>
            </a:r>
          </a:p>
          <a:p>
            <a:pPr marL="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0x00</a:t>
            </a:r>
            <a:r>
              <a:rPr dirty="0" sz="450" spc="-14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4</a:t>
            </a:r>
          </a:p>
          <a:p>
            <a:pPr marL="0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0x00</a:t>
            </a:r>
            <a:r>
              <a:rPr dirty="0" sz="450" spc="-14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8</a:t>
            </a:r>
          </a:p>
          <a:p>
            <a:pPr marL="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0x0020</a:t>
            </a:r>
          </a:p>
          <a:p>
            <a:pPr marL="0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0x0</a:t>
            </a:r>
            <a:r>
              <a:rPr dirty="0" sz="450" spc="-14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00</a:t>
            </a:r>
          </a:p>
          <a:p>
            <a:pPr marL="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0x0400</a:t>
            </a:r>
          </a:p>
          <a:p>
            <a:pPr marL="0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0x</a:t>
            </a:r>
            <a:r>
              <a:rPr dirty="0" sz="450" spc="-14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000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737263" y="496421"/>
            <a:ext cx="856792" cy="105148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71699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5">
                <a:solidFill>
                  <a:srgbClr val="ebe7d9"/>
                </a:solidFill>
                <a:latin typeface="TDTWON+NotoSans-Bold"/>
                <a:cs typeface="TDTWON+NotoSans-Bold"/>
              </a:rPr>
              <a:t>Write</a:t>
            </a:r>
            <a:r>
              <a:rPr dirty="0" sz="450" spc="-3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450" spc="-16">
                <a:solidFill>
                  <a:srgbClr val="ebe7d9"/>
                </a:solidFill>
                <a:latin typeface="TDTWON+NotoSans-Bold"/>
                <a:cs typeface="TDTWON+NotoSans-Bold"/>
              </a:rPr>
              <a:t>meaning</a:t>
            </a:r>
          </a:p>
          <a:p>
            <a:pPr marL="39269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6">
                <a:solidFill>
                  <a:srgbClr val="ebe7d9"/>
                </a:solidFill>
                <a:latin typeface="LGRJER+NotoSans-Regular"/>
                <a:cs typeface="LGRJER+NotoSans-Regular"/>
              </a:rPr>
              <a:t>ENABLE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-12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23">
                <a:solidFill>
                  <a:srgbClr val="ebe7d9"/>
                </a:solidFill>
                <a:latin typeface="LGRJER+NotoSans-Regular"/>
                <a:cs typeface="LGRJER+NotoSans-Regular"/>
              </a:rPr>
              <a:t>SWAP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450" spc="-18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HUD_ON</a:t>
            </a:r>
          </a:p>
          <a:p>
            <a:pPr marL="0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x</a:t>
            </a:r>
            <a:r>
              <a:rPr dirty="0" sz="450" spc="-2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6">
                <a:solidFill>
                  <a:srgbClr val="ebe7d9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y</a:t>
            </a:r>
            <a:r>
              <a:rPr dirty="0" sz="450" spc="-23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3">
                <a:solidFill>
                  <a:srgbClr val="ebe7d9"/>
                </a:solidFill>
                <a:latin typeface="LGRJER+NotoSans-Regular"/>
                <a:cs typeface="LGRJER+NotoSans-Regular"/>
              </a:rPr>
              <a:t>packed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2">
                <a:solidFill>
                  <a:srgbClr val="ebe7d9"/>
                </a:solidFill>
                <a:latin typeface="LGRJER+NotoSans-Regular"/>
                <a:cs typeface="LGRJER+NotoSans-Regular"/>
              </a:rPr>
              <a:t>into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one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word</a:t>
            </a:r>
          </a:p>
          <a:p>
            <a:pPr marL="96051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hp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+</a:t>
            </a: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6">
                <a:solidFill>
                  <a:srgbClr val="ebe7d9"/>
                </a:solidFill>
                <a:latin typeface="LGRJER+NotoSans-Regular"/>
                <a:cs typeface="LGRJER+NotoSans-Regular"/>
              </a:rPr>
              <a:t>BCD</a:t>
            </a:r>
            <a:r>
              <a:rPr dirty="0" sz="450" spc="-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+</a:t>
            </a: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level</a:t>
            </a:r>
          </a:p>
          <a:p>
            <a:pPr marL="237824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9">
                <a:solidFill>
                  <a:srgbClr val="ebe7d9"/>
                </a:solidFill>
                <a:latin typeface="LGRJER+NotoSans-Regular"/>
                <a:cs typeface="LGRJER+NotoSans-Regular"/>
              </a:rPr>
              <a:t>HUD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score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18894" y="645871"/>
            <a:ext cx="1676538" cy="2603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64608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nml_open()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open("/dev/mem")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DITGIQ+DejaVuSans"/>
                <a:cs typeface="DITGIQ+DejaVuSans"/>
              </a:rPr>
              <a:t>→</a:t>
            </a:r>
            <a:r>
              <a:rPr dirty="0" sz="500" spc="-11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mmap(NML_LWFPGA_BASE)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35029" y="731361"/>
            <a:ext cx="211898" cy="111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6">
                <a:solidFill>
                  <a:srgbClr val="ebe7d9"/>
                </a:solidFill>
                <a:latin typeface="LGRJER+NotoSans-Regular"/>
                <a:cs typeface="LGRJER+NotoSans-Regular"/>
              </a:rPr>
              <a:t>CTRL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9937" y="966301"/>
            <a:ext cx="453594" cy="5816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912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8">
                <a:solidFill>
                  <a:srgbClr val="ebe7d9"/>
                </a:solidFill>
                <a:latin typeface="LGRJER+NotoSans-Regular"/>
                <a:cs typeface="LGRJER+NotoSans-Regular"/>
              </a:rPr>
              <a:t>PLAYER_POS</a:t>
            </a:r>
          </a:p>
          <a:p>
            <a:pPr marL="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22">
                <a:solidFill>
                  <a:srgbClr val="ebe7d9"/>
                </a:solidFill>
                <a:latin typeface="LGRJER+NotoSans-Regular"/>
                <a:cs typeface="LGRJER+NotoSans-Regular"/>
              </a:rPr>
              <a:t>PLAYER_STATS</a:t>
            </a:r>
          </a:p>
          <a:p>
            <a:pPr marL="94347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8">
                <a:solidFill>
                  <a:srgbClr val="ebe7d9"/>
                </a:solidFill>
                <a:latin typeface="LGRJER+NotoSans-Regular"/>
                <a:cs typeface="LGRJER+NotoSans-Regular"/>
              </a:rPr>
              <a:t>SCORE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3558125" y="1254372"/>
            <a:ext cx="1397141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64046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nml_write_sprite()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7">
                <a:solidFill>
                  <a:srgbClr val="e1dbd1"/>
                </a:solidFill>
                <a:latin typeface="LGRJER+NotoSans-Regular"/>
                <a:cs typeface="LGRJER+NotoSans-Regular"/>
              </a:rPr>
              <a:t>W0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=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y:x,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22">
                <a:solidFill>
                  <a:srgbClr val="e1dbd1"/>
                </a:solidFill>
                <a:latin typeface="LGRJER+NotoSans-Regular"/>
                <a:cs typeface="LGRJER+NotoSans-Regular"/>
              </a:rPr>
              <a:t>W</a:t>
            </a:r>
            <a:r>
              <a:rPr dirty="0" sz="500">
                <a:solidFill>
                  <a:srgbClr val="e1dbd1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 spc="-14">
                <a:solidFill>
                  <a:srgbClr val="e1dbd1"/>
                </a:solidFill>
                <a:latin typeface="DejaVu Sans"/>
                <a:cs typeface="DejaVu Sans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=</a:t>
            </a:r>
            <a:r>
              <a:rPr dirty="0" sz="500" spc="19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sprite_id:ꢀags:palette_o@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22150" y="1671115"/>
            <a:ext cx="442296" cy="5816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1677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HUD_AUX</a:t>
            </a:r>
          </a:p>
          <a:p>
            <a:pPr marL="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SPRITE_TABLE</a:t>
            </a:r>
          </a:p>
          <a:p>
            <a:pPr marL="69015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7">
                <a:solidFill>
                  <a:srgbClr val="ebe7d9"/>
                </a:solidFill>
                <a:latin typeface="LGRJER+NotoSans-Regular"/>
                <a:cs typeface="LGRJER+NotoSans-Regular"/>
              </a:rPr>
              <a:t>PALETTE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719583" y="1671115"/>
            <a:ext cx="897264" cy="58160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21">
                <a:solidFill>
                  <a:srgbClr val="ebe7d9"/>
                </a:solidFill>
                <a:latin typeface="LGRJER+NotoSans-Regular"/>
                <a:cs typeface="LGRJER+NotoSans-Regular"/>
              </a:rPr>
              <a:t>ammo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+</a:t>
            </a:r>
            <a:r>
              <a:rPr dirty="0" sz="450" spc="-24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artillery</a:t>
            </a:r>
            <a:r>
              <a:rPr dirty="0" sz="450" spc="-13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+</a:t>
            </a:r>
            <a:r>
              <a:rPr dirty="0" sz="450" spc="-19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5">
                <a:solidFill>
                  <a:srgbClr val="ebe7d9"/>
                </a:solidFill>
                <a:latin typeface="LGRJER+NotoSans-Regular"/>
                <a:cs typeface="LGRJER+NotoSans-Regular"/>
              </a:rPr>
              <a:t>gas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charges</a:t>
            </a:r>
          </a:p>
          <a:p>
            <a:pPr marL="75990" marR="0">
              <a:lnSpc>
                <a:spcPts val="579"/>
              </a:lnSpc>
              <a:spcBef>
                <a:spcPts val="1220"/>
              </a:spcBef>
              <a:spcAft>
                <a:spcPts val="0"/>
              </a:spcAft>
            </a:pPr>
            <a:r>
              <a:rPr dirty="0" sz="450" spc="-19">
                <a:solidFill>
                  <a:srgbClr val="ebe7d9"/>
                </a:solidFill>
                <a:latin typeface="LGRJER+NotoSans-Regular"/>
                <a:cs typeface="LGRJER+NotoSans-Regular"/>
              </a:rPr>
              <a:t>32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×</a:t>
            </a:r>
            <a:r>
              <a:rPr dirty="0" sz="450" spc="-24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8-byte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1">
                <a:solidFill>
                  <a:srgbClr val="ebe7d9"/>
                </a:solidFill>
                <a:latin typeface="LGRJER+NotoSans-Regular"/>
                <a:cs typeface="LGRJER+NotoSans-Regular"/>
              </a:rPr>
              <a:t>sprite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1">
                <a:solidFill>
                  <a:srgbClr val="ebe7d9"/>
                </a:solidFill>
                <a:latin typeface="LGRJER+NotoSans-Regular"/>
                <a:cs typeface="LGRJER+NotoSans-Regular"/>
              </a:rPr>
              <a:t>entries</a:t>
            </a:r>
          </a:p>
          <a:p>
            <a:pPr marL="194818" marR="0">
              <a:lnSpc>
                <a:spcPts val="579"/>
              </a:lnSpc>
              <a:spcBef>
                <a:spcPts val="1270"/>
              </a:spcBef>
              <a:spcAft>
                <a:spcPts val="0"/>
              </a:spcAft>
            </a:pPr>
            <a:r>
              <a:rPr dirty="0" sz="450" spc="-16">
                <a:solidFill>
                  <a:srgbClr val="ebe7d9"/>
                </a:solidFill>
                <a:latin typeface="LGRJER+NotoSans-Regular"/>
                <a:cs typeface="LGRJER+NotoSans-Regular"/>
              </a:rPr>
              <a:t>RGB888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2">
                <a:solidFill>
                  <a:srgbClr val="ebe7d9"/>
                </a:solidFill>
                <a:latin typeface="LGRJER+NotoSans-Regular"/>
                <a:cs typeface="LGRJER+NotoSans-Regular"/>
              </a:rPr>
              <a:t>entries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40826" y="1858890"/>
            <a:ext cx="1632346" cy="2528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15899" marR="0">
              <a:lnSpc>
                <a:spcPts val="1093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ebe7d9"/>
                </a:solidFill>
                <a:latin typeface="TDTWON+NotoSans-Bold"/>
                <a:cs typeface="TDTWON+NotoSans-Bold"/>
              </a:rPr>
              <a:t>nml_commit_frame()</a:t>
            </a:r>
          </a:p>
          <a:p>
            <a:pPr marL="0" marR="0">
              <a:lnSpc>
                <a:spcPts val="67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sets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CTRL.SWAP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so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hardware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commits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at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VSYNC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86920" y="2375935"/>
            <a:ext cx="308771" cy="111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TILEMAP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23752" y="2375935"/>
            <a:ext cx="457108" cy="1117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79"/>
              </a:lnSpc>
              <a:spcBef>
                <a:spcPts val="0"/>
              </a:spcBef>
              <a:spcAft>
                <a:spcPts val="0"/>
              </a:spcAft>
            </a:pPr>
            <a:r>
              <a:rPr dirty="0" sz="450" spc="-19">
                <a:solidFill>
                  <a:srgbClr val="ebe7d9"/>
                </a:solidFill>
                <a:latin typeface="LGRJER+NotoSans-Regular"/>
                <a:cs typeface="LGRJER+NotoSans-Regular"/>
              </a:rPr>
              <a:t>80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×</a:t>
            </a:r>
            <a:r>
              <a:rPr dirty="0" sz="450" spc="-24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60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>
                <a:solidFill>
                  <a:srgbClr val="ebe7d9"/>
                </a:solidFill>
                <a:latin typeface="LGRJER+NotoSans-Regular"/>
                <a:cs typeface="LGRJER+NotoSans-Regular"/>
              </a:rPr>
              <a:t>tile</a:t>
            </a:r>
            <a:r>
              <a:rPr dirty="0" sz="450" spc="-11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450" spc="-14">
                <a:solidFill>
                  <a:srgbClr val="ebe7d9"/>
                </a:solidFill>
                <a:latin typeface="LGRJER+NotoSans-Regular"/>
                <a:cs typeface="LGRJER+NotoSans-Regular"/>
              </a:rPr>
              <a:t>IDs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160731" y="3074881"/>
            <a:ext cx="1579140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Register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packing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matches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nml_gpu.h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and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design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document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27628" y="658087"/>
            <a:ext cx="2504937" cy="36770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49386" y="669133"/>
            <a:ext cx="2467772" cy="324016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327628" y="1284194"/>
            <a:ext cx="2505105" cy="36770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349386" y="1295241"/>
            <a:ext cx="2467772" cy="324016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501199" y="2105282"/>
            <a:ext cx="4748758" cy="560317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522279" y="2115657"/>
            <a:ext cx="4712948" cy="518157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349664" y="116634"/>
            <a:ext cx="3201597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 spc="12">
                <a:solidFill>
                  <a:srgbClr val="ebe7d9"/>
                </a:solidFill>
                <a:latin typeface="TDTWON+NotoSans-Bold"/>
                <a:cs typeface="TDTWON+NotoSans-Bold"/>
              </a:rPr>
              <a:t>One</a:t>
            </a:r>
            <a:r>
              <a:rPr dirty="0" sz="1400" spc="-7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sprite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slot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1">
                <a:solidFill>
                  <a:srgbClr val="ebe7d9"/>
                </a:solidFill>
                <a:latin typeface="TDTWON+NotoSans-Bold"/>
                <a:cs typeface="TDTWON+NotoSans-Bold"/>
              </a:rPr>
              <a:t>two</a:t>
            </a:r>
            <a:r>
              <a:rPr dirty="0" sz="1400" spc="-7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32-bit</a:t>
            </a:r>
            <a:r>
              <a:rPr dirty="0" sz="1400" spc="-8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words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18138" y="370237"/>
            <a:ext cx="2003208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This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is</a:t>
            </a:r>
            <a:r>
              <a:rPr dirty="0" sz="550" spc="15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1">
                <a:solidFill>
                  <a:srgbClr val="afa899"/>
                </a:solidFill>
                <a:latin typeface="LGRJER+NotoSans-Regular"/>
                <a:cs typeface="LGRJER+NotoSans-Regular"/>
              </a:rPr>
              <a:t>what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render.c</a:t>
            </a:r>
            <a:r>
              <a:rPr dirty="0" sz="550" spc="2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ultimately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writes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afa899"/>
                </a:solidFill>
                <a:latin typeface="LGRJER+NotoSans-Regular"/>
                <a:cs typeface="LGRJER+NotoSans-Regular"/>
              </a:rPr>
              <a:t>per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visible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object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315196" y="518215"/>
            <a:ext cx="252821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TDTWON+NotoSans-Bold"/>
                <a:cs typeface="TDTWON+NotoSans-Bold"/>
              </a:rPr>
              <a:t>Field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24780" y="518215"/>
            <a:ext cx="364289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11">
                <a:solidFill>
                  <a:srgbClr val="ebe7d9"/>
                </a:solidFill>
                <a:latin typeface="TDTWON+NotoSans-Bold"/>
                <a:cs typeface="TDTWON+NotoSans-Bold"/>
              </a:rPr>
              <a:t>Purpose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48174" y="721525"/>
            <a:ext cx="815857" cy="1851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W0:</a:t>
            </a:r>
            <a:r>
              <a:rPr dirty="0" sz="850" spc="-4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position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261473" y="751962"/>
            <a:ext cx="360067" cy="3616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sprite_id</a:t>
            </a:r>
          </a:p>
          <a:p>
            <a:pPr marL="23461" marR="0">
              <a:lnSpc>
                <a:spcPts val="707"/>
              </a:lnSpc>
              <a:spcBef>
                <a:spcPts val="1133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ACTIVE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077980" y="751962"/>
            <a:ext cx="1106054" cy="3616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selects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6×</a:t>
            </a:r>
            <a:r>
              <a:rPr dirty="0" sz="500" spc="13">
                <a:solidFill>
                  <a:srgbClr val="ebe7d9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6</a:t>
            </a:r>
            <a:r>
              <a:rPr dirty="0" sz="500" spc="15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art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in</a:t>
            </a:r>
            <a:r>
              <a:rPr dirty="0" sz="50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sprite</a:t>
            </a:r>
            <a:r>
              <a:rPr dirty="0" sz="50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be7d9"/>
                </a:solidFill>
                <a:latin typeface="LGRJER+NotoSans-Regular"/>
                <a:cs typeface="LGRJER+NotoSans-Regular"/>
              </a:rPr>
              <a:t>ROM</a:t>
            </a:r>
          </a:p>
          <a:p>
            <a:pPr marL="246160" marR="0">
              <a:lnSpc>
                <a:spcPts val="707"/>
              </a:lnSpc>
              <a:spcBef>
                <a:spcPts val="1133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visible</a:t>
            </a:r>
            <a:r>
              <a:rPr dirty="0" sz="50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50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hidden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32404" y="853962"/>
            <a:ext cx="463554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bits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5">
                <a:solidFill>
                  <a:srgbClr val="e1dbd1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5:0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=</a:t>
            </a:r>
            <a:r>
              <a:rPr dirty="0" sz="500" spc="2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x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621014" y="853962"/>
            <a:ext cx="500358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bits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3</a:t>
            </a:r>
            <a:r>
              <a:rPr dirty="0" sz="500" spc="15">
                <a:solidFill>
                  <a:srgbClr val="e1dbd1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:</a:t>
            </a:r>
            <a:r>
              <a:rPr dirty="0" sz="500" spc="10">
                <a:solidFill>
                  <a:srgbClr val="e1dbd1"/>
                </a:solidFill>
                <a:latin typeface="LAVVDN+NotoSans-Regular"/>
                <a:cs typeface="LAVVDN+NotoSans-Regular"/>
              </a:rPr>
              <a:t>1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6</a:t>
            </a:r>
            <a:r>
              <a:rPr dirty="0" sz="500" spc="19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=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280515" y="1219461"/>
            <a:ext cx="321680" cy="1279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priority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208539" y="1219461"/>
            <a:ext cx="807051" cy="59543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8699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scanline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culling</a:t>
            </a:r>
            <a:r>
              <a:rPr dirty="0" sz="50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order</a:t>
            </a:r>
          </a:p>
          <a:p>
            <a:pPr marL="0" marR="0">
              <a:lnSpc>
                <a:spcPts val="707"/>
              </a:lnSpc>
              <a:spcBef>
                <a:spcPts val="1133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future</a:t>
            </a:r>
            <a:r>
              <a:rPr dirty="0" sz="50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sprite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mirroring</a:t>
            </a:r>
          </a:p>
          <a:p>
            <a:pPr marL="105568" marR="0">
              <a:lnSpc>
                <a:spcPts val="707"/>
              </a:lnSpc>
              <a:spcBef>
                <a:spcPts val="1183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recoloring</a:t>
            </a:r>
            <a:r>
              <a:rPr dirty="0" sz="50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hook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54116" y="1347632"/>
            <a:ext cx="1601543" cy="2603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201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W1:</a:t>
            </a:r>
            <a:r>
              <a:rPr dirty="0" sz="850" spc="-4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identity</a:t>
            </a:r>
            <a:r>
              <a:rPr dirty="0" sz="850" spc="-5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+</a:t>
            </a:r>
            <a:r>
              <a:rPr dirty="0" sz="850" spc="-4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draw</a:t>
            </a:r>
            <a:r>
              <a:rPr dirty="0" sz="850" spc="-4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UAGHMQ+NotoSans-Bold"/>
                <a:cs typeface="UAGHMQ+NotoSans-Bold"/>
              </a:rPr>
              <a:t>E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ags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sprite_id,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ꢀip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0">
                <a:solidFill>
                  <a:srgbClr val="e1dbd1"/>
                </a:solidFill>
                <a:latin typeface="LGRJER+NotoSans-Regular"/>
                <a:cs typeface="LGRJER+NotoSans-Regular"/>
              </a:rPr>
              <a:t>bits,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priority,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active,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palette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bd1"/>
                </a:solidFill>
                <a:latin typeface="LGRJER+NotoSans-Regular"/>
                <a:cs typeface="LGRJER+NotoSans-Regular"/>
              </a:rPr>
              <a:t>o@set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227985" y="1453208"/>
            <a:ext cx="426750" cy="36168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529" marR="0">
              <a:lnSpc>
                <a:spcPts val="707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hꢀip</a:t>
            </a:r>
            <a:r>
              <a:rPr dirty="0" sz="50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50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be7d9"/>
                </a:solidFill>
                <a:latin typeface="LGRJER+NotoSans-Regular"/>
                <a:cs typeface="LGRJER+NotoSans-Regular"/>
              </a:rPr>
              <a:t>vꢀip</a:t>
            </a:r>
          </a:p>
          <a:p>
            <a:pPr marL="0" marR="0">
              <a:lnSpc>
                <a:spcPts val="707"/>
              </a:lnSpc>
              <a:spcBef>
                <a:spcPts val="1133"/>
              </a:spcBef>
              <a:spcAft>
                <a:spcPts val="0"/>
              </a:spcAft>
            </a:pPr>
            <a:r>
              <a:rPr dirty="0" sz="50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palette_o@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663479" y="2293125"/>
            <a:ext cx="2589030" cy="22260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70214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w0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600" spc="15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((uint32_t)(uint16_t)y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&lt;&lt;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16)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|</a:t>
            </a:r>
            <a:r>
              <a:rPr dirty="0" sz="600" spc="15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(uint16_t)x;</a:t>
            </a:r>
          </a:p>
          <a:p>
            <a:pPr marL="0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w1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=</a:t>
            </a:r>
            <a:r>
              <a:rPr dirty="0" sz="600" spc="15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sprite_id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|</a:t>
            </a:r>
            <a:r>
              <a:rPr dirty="0" sz="600" spc="15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(flags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&lt;&lt;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8)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|</a:t>
            </a:r>
            <a:r>
              <a:rPr dirty="0" sz="600" spc="15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(palette_off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&lt;&lt;</a:t>
            </a:r>
            <a:r>
              <a:rPr dirty="0" sz="600" spc="12">
                <a:solidFill>
                  <a:srgbClr val="d7d9cc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9cc"/>
                </a:solidFill>
                <a:latin typeface="LOKCCI+DejaVuSansMono"/>
                <a:cs typeface="LOKCCI+DejaVuSansMono"/>
              </a:rPr>
              <a:t>16);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976791" y="3074881"/>
            <a:ext cx="1945463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20">
                <a:solidFill>
                  <a:srgbClr val="777777"/>
                </a:solidFill>
                <a:latin typeface="LGRJER+NotoSans-Regular"/>
                <a:cs typeface="LGRJER+NotoSans-Regular"/>
              </a:rPr>
              <a:t>render.c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5">
                <a:solidFill>
                  <a:srgbClr val="777777"/>
                </a:solidFill>
                <a:latin typeface="LGRJER+NotoSans-Regular"/>
                <a:cs typeface="LGRJER+NotoSans-Regular"/>
              </a:rPr>
              <a:t>never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writes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pixels;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it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writes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sprite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descriptors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for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77777"/>
                </a:solidFill>
                <a:latin typeface="LGRJER+NotoSans-Regular"/>
                <a:cs typeface="LGRJER+NotoSans-Regular"/>
              </a:rPr>
              <a:t>FPGA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compositor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327628" y="528373"/>
            <a:ext cx="1339082" cy="475655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/>
          <p:nvPr/>
        </p:nvSpPr>
        <p:spPr>
          <a:xfrm>
            <a:off x="349560" y="539594"/>
            <a:ext cx="1301744" cy="431798"/>
          </a:xfrm>
          <a:prstGeom prst="rect">
            <a:avLst/>
          </a:prstGeom>
          <a:blipFill>
            <a:blip cstate="print" r:embed="rId4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/>
          <p:nvPr/>
        </p:nvSpPr>
        <p:spPr>
          <a:xfrm>
            <a:off x="1817331" y="528373"/>
            <a:ext cx="1339252" cy="475655"/>
          </a:xfrm>
          <a:prstGeom prst="rect">
            <a:avLst/>
          </a:prstGeom>
          <a:blipFill>
            <a:blip cstate="print" r:embed="rId5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5" name="object 5"/>
          <p:cNvSpPr/>
          <p:nvPr/>
        </p:nvSpPr>
        <p:spPr>
          <a:xfrm>
            <a:off x="1839263" y="539594"/>
            <a:ext cx="1301743" cy="431798"/>
          </a:xfrm>
          <a:prstGeom prst="rect">
            <a:avLst/>
          </a:prstGeom>
          <a:blipFill>
            <a:blip cstate="print" r:embed="rId6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6" name="object 6"/>
          <p:cNvSpPr/>
          <p:nvPr/>
        </p:nvSpPr>
        <p:spPr>
          <a:xfrm>
            <a:off x="3307034" y="528373"/>
            <a:ext cx="1727869" cy="475655"/>
          </a:xfrm>
          <a:prstGeom prst="rect">
            <a:avLst/>
          </a:prstGeom>
          <a:blipFill>
            <a:blip cstate="print" r:embed="rId7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7" name="object 7"/>
          <p:cNvSpPr/>
          <p:nvPr/>
        </p:nvSpPr>
        <p:spPr>
          <a:xfrm>
            <a:off x="3328965" y="539594"/>
            <a:ext cx="1690362" cy="431798"/>
          </a:xfrm>
          <a:prstGeom prst="rect">
            <a:avLst/>
          </a:prstGeom>
          <a:blipFill>
            <a:blip cstate="print" r:embed="rId8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8" name="object 8"/>
          <p:cNvSpPr/>
          <p:nvPr/>
        </p:nvSpPr>
        <p:spPr>
          <a:xfrm>
            <a:off x="501199" y="1284866"/>
            <a:ext cx="4748758" cy="1121655"/>
          </a:xfrm>
          <a:prstGeom prst="rect">
            <a:avLst/>
          </a:prstGeom>
          <a:blipFill>
            <a:blip cstate="print" r:embed="rId9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9" name="object 9"/>
          <p:cNvSpPr/>
          <p:nvPr/>
        </p:nvSpPr>
        <p:spPr>
          <a:xfrm>
            <a:off x="522279" y="1295241"/>
            <a:ext cx="4712948" cy="1079495"/>
          </a:xfrm>
          <a:prstGeom prst="rect">
            <a:avLst/>
          </a:prstGeom>
          <a:blipFill>
            <a:blip cstate="print" r:embed="rId10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2147" y="116634"/>
            <a:ext cx="4714775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render_terminal.c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is</a:t>
            </a:r>
            <a:r>
              <a:rPr dirty="0" sz="1400" spc="-6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a</a:t>
            </a:r>
            <a:r>
              <a:rPr dirty="0" sz="1400" spc="-6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diagnostic</a:t>
            </a:r>
            <a:r>
              <a:rPr dirty="0" sz="1400" spc="-75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mirror</a:t>
            </a:r>
            <a:r>
              <a:rPr dirty="0" sz="1400" spc="-71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0">
                <a:solidFill>
                  <a:srgbClr val="ebe7d9"/>
                </a:solidFill>
                <a:latin typeface="TDTWON+NotoSans-Bold"/>
                <a:cs typeface="TDTWON+NotoSans-Bold"/>
              </a:rPr>
              <a:t>of</a:t>
            </a:r>
            <a:r>
              <a:rPr dirty="0" sz="1400" spc="-8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-14">
                <a:solidFill>
                  <a:srgbClr val="ebe7d9"/>
                </a:solidFill>
                <a:latin typeface="TDTWON+NotoSans-Bold"/>
                <a:cs typeface="TDTWON+NotoSans-Bold"/>
              </a:rPr>
              <a:t>render.c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28513" y="370237"/>
            <a:ext cx="1982210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It</a:t>
            </a:r>
            <a:r>
              <a:rPr dirty="0" sz="550" spc="13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helps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verify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slot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allocation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before</a:t>
            </a:r>
            <a:r>
              <a:rPr dirty="0" sz="550" spc="12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touching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899"/>
                </a:solidFill>
                <a:latin typeface="LGRJER+NotoSans-Regular"/>
                <a:cs typeface="LGRJER+NotoSans-Regular"/>
              </a:rPr>
              <a:t>FPGA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4668" y="645871"/>
            <a:ext cx="952523" cy="2603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9947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ce7da"/>
                </a:solidFill>
                <a:latin typeface="TDTWON+NotoSans-Bold"/>
                <a:cs typeface="TDTWON+NotoSans-Bold"/>
              </a:rPr>
              <a:t>mock_sprite_t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active,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cd2"/>
                </a:solidFill>
                <a:latin typeface="LGRJER+NotoSans-Regular"/>
                <a:cs typeface="LGRJER+NotoSans-Regular"/>
              </a:rPr>
              <a:t>x,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-11">
                <a:solidFill>
                  <a:srgbClr val="e1dcd2"/>
                </a:solidFill>
                <a:latin typeface="LGRJER+NotoSans-Regular"/>
                <a:cs typeface="LGRJER+NotoSans-Regular"/>
              </a:rPr>
              <a:t>y,</a:t>
            </a:r>
            <a:r>
              <a:rPr dirty="0" sz="500" spc="19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sprite_id,</a:t>
            </a:r>
            <a:r>
              <a:rPr dirty="0" sz="500">
                <a:solidFill>
                  <a:srgbClr val="e1dcd2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1">
                <a:solidFill>
                  <a:srgbClr val="e1dcd2"/>
                </a:solidFill>
                <a:latin typeface="LGRJER+NotoSans-Regular"/>
                <a:cs typeface="LGRJER+NotoSans-Regular"/>
              </a:rPr>
              <a:t>glyph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115680" y="645871"/>
            <a:ext cx="870848" cy="2603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entity_glyph()</a:t>
            </a:r>
          </a:p>
          <a:p>
            <a:pPr marL="86359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 spc="-58">
                <a:solidFill>
                  <a:srgbClr val="e1dbd1"/>
                </a:solidFill>
                <a:latin typeface="LGRJER+NotoSans-Regular"/>
                <a:cs typeface="LGRJER+NotoSans-Regular"/>
              </a:rPr>
              <a:t>P,</a:t>
            </a:r>
            <a:r>
              <a:rPr dirty="0" sz="500" spc="71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4">
                <a:solidFill>
                  <a:srgbClr val="e1dbd1"/>
                </a:solidFill>
                <a:latin typeface="LGRJER+NotoSans-Regular"/>
                <a:cs typeface="LGRJER+NotoSans-Regular"/>
              </a:rPr>
              <a:t>A,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u,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*,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^,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3">
                <a:solidFill>
                  <a:srgbClr val="e1dbd1"/>
                </a:solidFill>
                <a:latin typeface="LGRJER+NotoSans-Regular"/>
                <a:cs typeface="LGRJER+NotoSans-Regular"/>
              </a:rPr>
              <a:t>+,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22">
                <a:solidFill>
                  <a:srgbClr val="e1dbd1"/>
                </a:solidFill>
                <a:latin typeface="LGRJER+NotoSans-Regular"/>
                <a:cs typeface="LGRJER+NotoSans-Regular"/>
              </a:rPr>
              <a:t>M,</a:t>
            </a:r>
            <a:r>
              <a:rPr dirty="0" sz="500" spc="-15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~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567300" y="645871"/>
            <a:ext cx="1357502" cy="26037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62989" marR="0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slot</a:t>
            </a:r>
            <a:r>
              <a:rPr dirty="0" sz="850" spc="-49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850">
                <a:solidFill>
                  <a:srgbClr val="ebe7d9"/>
                </a:solidFill>
                <a:latin typeface="TDTWON+NotoSans-Bold"/>
                <a:cs typeface="TDTWON+NotoSans-Bold"/>
              </a:rPr>
              <a:t>printout</a:t>
            </a:r>
          </a:p>
          <a:p>
            <a:pPr marL="0" marR="0">
              <a:lnSpc>
                <a:spcPts val="689"/>
              </a:lnSpc>
              <a:spcBef>
                <a:spcPts val="0"/>
              </a:spcBef>
              <a:spcAft>
                <a:spcPts val="0"/>
              </a:spcAft>
            </a:pP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frame,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hp,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score,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2">
                <a:solidFill>
                  <a:srgbClr val="e1dbd1"/>
                </a:solidFill>
                <a:latin typeface="LGRJER+NotoSans-Regular"/>
                <a:cs typeface="LGRJER+NotoSans-Regular"/>
              </a:rPr>
              <a:t>wave,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ammo,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 spc="15">
                <a:solidFill>
                  <a:srgbClr val="e1dbd1"/>
                </a:solidFill>
                <a:latin typeface="LGRJER+NotoSans-Regular"/>
                <a:cs typeface="LGRJER+NotoSans-Regular"/>
              </a:rPr>
              <a:t>32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 </a:t>
            </a:r>
            <a:r>
              <a:rPr dirty="0" sz="500">
                <a:solidFill>
                  <a:srgbClr val="e1dbd1"/>
                </a:solidFill>
                <a:latin typeface="LGRJER+NotoSans-Regular"/>
                <a:cs typeface="LGRJER+NotoSans-Regular"/>
              </a:rPr>
              <a:t>slots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967783" y="1612959"/>
            <a:ext cx="2049954" cy="50360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15"/>
              </a:lnSpc>
              <a:spcBef>
                <a:spcPts val="0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frame=150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hp=100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score=0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sprite_count=3</a:t>
            </a:r>
          </a:p>
          <a:p>
            <a:pPr marL="23594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slot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00: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sprite_id=1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x=320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y=420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glyph=P</a:t>
            </a:r>
          </a:p>
          <a:p>
            <a:pPr marL="23594" marR="0">
              <a:lnSpc>
                <a:spcPts val="715"/>
              </a:lnSpc>
              <a:spcBef>
                <a:spcPts val="22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slot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01: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sprite_id=2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x=320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y=115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glyph=A</a:t>
            </a:r>
          </a:p>
          <a:p>
            <a:pPr marL="23594" marR="0">
              <a:lnSpc>
                <a:spcPts val="715"/>
              </a:lnSpc>
              <a:spcBef>
                <a:spcPts val="22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slot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02: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sprite_id=4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x=53</a:t>
            </a:r>
            <a:r>
              <a:rPr dirty="0" sz="600" spc="37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y=55</a:t>
            </a:r>
            <a:r>
              <a:rPr dirty="0" sz="600" spc="377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glyph=u</a:t>
            </a:r>
          </a:p>
          <a:p>
            <a:pPr marL="561470" marR="0">
              <a:lnSpc>
                <a:spcPts val="715"/>
              </a:lnSpc>
              <a:spcBef>
                <a:spcPts val="72"/>
              </a:spcBef>
              <a:spcAft>
                <a:spcPts val="0"/>
              </a:spcAft>
            </a:pP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slot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03: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 </a:t>
            </a:r>
            <a:r>
              <a:rPr dirty="0" sz="600">
                <a:solidFill>
                  <a:srgbClr val="d7dacd"/>
                </a:solidFill>
                <a:latin typeface="LOKCCI+DejaVuSansMono"/>
                <a:cs typeface="LOKCCI+DejaVuSansMono"/>
              </a:rPr>
              <a:t>inactive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199149" y="3074881"/>
            <a:ext cx="1502290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If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87878"/>
                </a:solidFill>
                <a:latin typeface="LGRJER+NotoSans-Regular"/>
                <a:cs typeface="LGRJER+NotoSans-Regular"/>
              </a:rPr>
              <a:t>terminal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slots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look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wrong,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3">
                <a:solidFill>
                  <a:srgbClr val="787878"/>
                </a:solidFill>
                <a:latin typeface="LGRJER+NotoSans-Regular"/>
                <a:cs typeface="LGRJER+NotoSans-Regular"/>
              </a:rPr>
              <a:t>FPGA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87878"/>
                </a:solidFill>
                <a:latin typeface="LGRJER+NotoSans-Regular"/>
                <a:cs typeface="LGRJER+NotoSans-Regular"/>
              </a:rPr>
              <a:t>output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will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also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5">
                <a:solidFill>
                  <a:srgbClr val="787878"/>
                </a:solidFill>
                <a:latin typeface="LGRJER+NotoSans-Regular"/>
                <a:cs typeface="LGRJER+NotoSans-Regular"/>
              </a:rPr>
              <a:t>be</a:t>
            </a:r>
            <a:r>
              <a:rPr dirty="0" sz="400">
                <a:solidFill>
                  <a:srgbClr val="787878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87878"/>
                </a:solidFill>
                <a:latin typeface="LGRJER+NotoSans-Regular"/>
                <a:cs typeface="LGRJER+NotoSans-Regular"/>
              </a:rPr>
              <a:t>wrong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4290" y="14"/>
            <a:ext cx="5757192" cy="323848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35759" y="116634"/>
            <a:ext cx="4228969" cy="2830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Where</a:t>
            </a:r>
            <a:r>
              <a:rPr dirty="0" sz="1400" spc="-7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to</a:t>
            </a:r>
            <a:r>
              <a:rPr dirty="0" sz="1400" spc="-7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debug</a:t>
            </a:r>
            <a:r>
              <a:rPr dirty="0" sz="1400" spc="-7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 spc="11">
                <a:solidFill>
                  <a:srgbClr val="ebe7d9"/>
                </a:solidFill>
                <a:latin typeface="TDTWON+NotoSans-Bold"/>
                <a:cs typeface="TDTWON+NotoSans-Bold"/>
              </a:rPr>
              <a:t>when</a:t>
            </a:r>
            <a:r>
              <a:rPr dirty="0" sz="1400" spc="-77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something</a:t>
            </a:r>
            <a:r>
              <a:rPr dirty="0" sz="1400" spc="-73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goes</a:t>
            </a:r>
            <a:r>
              <a:rPr dirty="0" sz="1400" spc="-74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1400">
                <a:solidFill>
                  <a:srgbClr val="ebe7d9"/>
                </a:solidFill>
                <a:latin typeface="TDTWON+NotoSans-Bold"/>
                <a:cs typeface="TDTWON+NotoSans-Bold"/>
              </a:rPr>
              <a:t>wrong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23926" y="370237"/>
            <a:ext cx="1193114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0">
                <a:solidFill>
                  <a:srgbClr val="afa999"/>
                </a:solidFill>
                <a:latin typeface="LGRJER+NotoSans-Regular"/>
                <a:cs typeface="LGRJER+NotoSans-Regular"/>
              </a:rPr>
              <a:t>Symptoms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3">
                <a:solidFill>
                  <a:srgbClr val="afa999"/>
                </a:solidFill>
                <a:latin typeface="LGRJER+NotoSans-Regular"/>
                <a:cs typeface="LGRJER+NotoSans-Regular"/>
              </a:rPr>
              <a:t>map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to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speci1c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afa999"/>
                </a:solidFill>
                <a:latin typeface="LGRJER+NotoSans-Regular"/>
                <a:cs typeface="LGRJER+NotoSans-Regular"/>
              </a:rPr>
              <a:t>1les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3706" y="561488"/>
            <a:ext cx="1109575" cy="1172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11608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Symptom</a:t>
            </a:r>
          </a:p>
          <a:p>
            <a:pPr marL="57117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controller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moves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nothing</a:t>
            </a:r>
          </a:p>
          <a:p>
            <a:pPr marL="0" marR="0">
              <a:lnSpc>
                <a:spcPts val="771"/>
              </a:lnSpc>
              <a:spcBef>
                <a:spcPts val="126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player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moves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but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cannot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1re</a:t>
            </a:r>
          </a:p>
          <a:p>
            <a:pPr marL="26519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enemies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sync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into</a:t>
            </a:r>
            <a:r>
              <a:rPr dirty="0" sz="5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columns</a:t>
            </a:r>
          </a:p>
          <a:p>
            <a:pPr marL="200090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wave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never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ends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84683" y="561488"/>
            <a:ext cx="742854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First</a:t>
            </a:r>
            <a:r>
              <a:rPr dirty="0" sz="550" spc="-28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place</a:t>
            </a:r>
            <a:r>
              <a:rPr dirty="0" sz="550" spc="-26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to</a:t>
            </a:r>
            <a:r>
              <a:rPr dirty="0" sz="550" spc="-30">
                <a:solidFill>
                  <a:srgbClr val="ebe7d9"/>
                </a:solidFill>
                <a:latin typeface="TDTWON+NotoSans-Bold"/>
                <a:cs typeface="TDTWON+NotoSans-Bold"/>
              </a:rPr>
              <a:t> </a:t>
            </a:r>
            <a:r>
              <a:rPr dirty="0" sz="550">
                <a:solidFill>
                  <a:srgbClr val="ebe7d9"/>
                </a:solidFill>
                <a:latin typeface="TDTWON+NotoSans-Bold"/>
                <a:cs typeface="TDTWON+NotoSans-Bold"/>
              </a:rPr>
              <a:t>look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54627" y="820567"/>
            <a:ext cx="1849459" cy="117235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0597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input_real.c: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event</a:t>
            </a:r>
            <a:r>
              <a:rPr dirty="0" sz="5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device,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mapping,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permissions</a:t>
            </a:r>
          </a:p>
          <a:p>
            <a:pPr marL="183765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update_player():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ammo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+</a:t>
            </a:r>
            <a:r>
              <a:rPr dirty="0" sz="550" spc="14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1re_cooldown</a:t>
            </a:r>
          </a:p>
          <a:p>
            <a:pPr marL="152826" marR="0">
              <a:lnSpc>
                <a:spcPts val="771"/>
              </a:lnSpc>
              <a:spcBef>
                <a:spcPts val="126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phase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/</a:t>
            </a:r>
            <a:r>
              <a:rPr dirty="0" sz="5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enemy_rng()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in</a:t>
            </a:r>
            <a:r>
              <a:rPr dirty="0" sz="550" spc="16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update_enemies()</a:t>
            </a:r>
          </a:p>
          <a:p>
            <a:pPr marL="0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wave_complete():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spawned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count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+</a:t>
            </a:r>
            <a:r>
              <a:rPr dirty="0" sz="550" spc="12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active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0">
                <a:solidFill>
                  <a:srgbClr val="ebe7d9"/>
                </a:solidFill>
                <a:latin typeface="LGRJER+NotoSans-Regular"/>
                <a:cs typeface="LGRJER+NotoSans-Regular"/>
              </a:rPr>
              <a:t>enemies</a:t>
            </a:r>
          </a:p>
          <a:p>
            <a:pPr marL="395077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render.c:</a:t>
            </a:r>
            <a:r>
              <a:rPr dirty="0" sz="550" spc="14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hide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leftover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slots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2956" y="1856882"/>
            <a:ext cx="904811" cy="395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sprites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ghost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3">
                <a:solidFill>
                  <a:srgbClr val="ebe7d9"/>
                </a:solidFill>
                <a:latin typeface="LGRJER+NotoSans-Regular"/>
                <a:cs typeface="LGRJER+NotoSans-Regular"/>
              </a:rPr>
              <a:t>on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screen</a:t>
            </a:r>
          </a:p>
          <a:p>
            <a:pPr marL="86359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FPGA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shows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blank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966868" y="2115960"/>
            <a:ext cx="1825008" cy="39512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61537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nml_open(),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CTRL.ENABLE,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palette/tilemap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init</a:t>
            </a:r>
          </a:p>
          <a:p>
            <a:pPr marL="0" marR="0">
              <a:lnSpc>
                <a:spcPts val="771"/>
              </a:lnSpc>
              <a:spcBef>
                <a:spcPts val="1218"/>
              </a:spcBef>
              <a:spcAft>
                <a:spcPts val="0"/>
              </a:spcAft>
            </a:pP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nml_set_player_state(),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nml_set_score(),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HUD_AUX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59646" y="2375039"/>
            <a:ext cx="498351" cy="13604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771"/>
              </a:lnSpc>
              <a:spcBef>
                <a:spcPts val="0"/>
              </a:spcBef>
              <a:spcAft>
                <a:spcPts val="0"/>
              </a:spcAft>
            </a:pPr>
            <a:r>
              <a:rPr dirty="0" sz="550" spc="11">
                <a:solidFill>
                  <a:srgbClr val="ebe7d9"/>
                </a:solidFill>
                <a:latin typeface="LGRJER+NotoSans-Regular"/>
                <a:cs typeface="LGRJER+NotoSans-Regular"/>
              </a:rPr>
              <a:t>HUD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 </a:t>
            </a:r>
            <a:r>
              <a:rPr dirty="0" sz="550">
                <a:solidFill>
                  <a:srgbClr val="ebe7d9"/>
                </a:solidFill>
                <a:latin typeface="LGRJER+NotoSans-Regular"/>
                <a:cs typeface="LGRJER+NotoSans-Regular"/>
              </a:rPr>
              <a:t>wrong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107008" y="3074881"/>
            <a:ext cx="1685619" cy="10339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514"/>
              </a:lnSpc>
              <a:spcBef>
                <a:spcPts val="0"/>
              </a:spcBef>
              <a:spcAft>
                <a:spcPts val="0"/>
              </a:spcAft>
            </a:pPr>
            <a:r>
              <a:rPr dirty="0" sz="400" spc="-15">
                <a:solidFill>
                  <a:srgbClr val="777777"/>
                </a:solidFill>
                <a:latin typeface="LGRJER+NotoSans-Regular"/>
                <a:cs typeface="LGRJER+NotoSans-Regular"/>
              </a:rPr>
              <a:t>Testing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strategy: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verify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terminal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build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1rst,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0">
                <a:solidFill>
                  <a:srgbClr val="777777"/>
                </a:solidFill>
                <a:latin typeface="LGRJER+NotoSans-Regular"/>
                <a:cs typeface="LGRJER+NotoSans-Regular"/>
              </a:rPr>
              <a:t>then</a:t>
            </a:r>
            <a:r>
              <a:rPr dirty="0" sz="400" spc="-12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the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4">
                <a:solidFill>
                  <a:srgbClr val="777777"/>
                </a:solidFill>
                <a:latin typeface="LGRJER+NotoSans-Regular"/>
                <a:cs typeface="LGRJER+NotoSans-Regular"/>
              </a:rPr>
              <a:t>hardware</a:t>
            </a:r>
            <a:r>
              <a:rPr dirty="0" sz="400">
                <a:solidFill>
                  <a:srgbClr val="777777"/>
                </a:solidFill>
                <a:latin typeface="LGRJER+NotoSans-Regular"/>
                <a:cs typeface="LGRJER+NotoSans-Regular"/>
              </a:rPr>
              <a:t> </a:t>
            </a:r>
            <a:r>
              <a:rPr dirty="0" sz="400" spc="-11">
                <a:solidFill>
                  <a:srgbClr val="777777"/>
                </a:solidFill>
                <a:latin typeface="LGRJER+NotoSans-Regular"/>
                <a:cs typeface="LGRJER+NotoSans-Regular"/>
              </a:rPr>
              <a:t>writer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root</dc:creator>
  <cp:lastModifiedBy>root</cp:lastModifiedBy>
  <cp:revision>1</cp:revision>
  <dcterms:modified xsi:type="dcterms:W3CDTF">2026-05-14T00:47:16+00:00</dcterms:modified>
</cp:coreProperties>
</file>